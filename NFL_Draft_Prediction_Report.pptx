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37e164c-16ec-b86f-9c98-1c5ef711e36d}">
          <p14:sldIdLst>
            <p14:sldId id="256"/>
          </p14:sldIdLst>
        </p14:section>
        <p14:section name="Findings" id="{a7c4256e-a576-26bc-367b-954821bb4f84}">
          <p14:sldIdLst>
            <p14:sldId id="257"/>
            <p14:sldId id="258"/>
            <p14:sldId id="259"/>
            <p14:sldId id="260"/>
            <p14:sldId id="261"/>
            <p14:sldId id="262"/>
          </p14:sldIdLst>
        </p14:section>
        <p14:section name="Recommendations" id="{ae16e6a2-f74d-157b-a5f2-099794802022}">
          <p14:sldIdLst>
            <p14:sldId id="263"/>
            <p14:sldId id="264"/>
            <p14:sldId id="265"/>
            <p14:sldId id="266"/>
          </p14:sldIdLst>
        </p14:section>
        <p14:section name="Appendix" id="{02a22277-4f69-c555-d0dc-81fa8e68eb8b}">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7231D"/>
                </a:solidFill>
                <a:latin typeface="+mn-lt"/>
              </a:defRPr>
            </a:pPr>
            <a:r>
              <a:rPr sz="1400" b="0" i="0" u="none" strike="noStrike">
                <a:solidFill>
                  <a:srgbClr val="17231D"/>
                </a:solidFill>
                <a:latin typeface="+mn-lt"/>
              </a:rPr>
              <a:t>Share of players drafted, grouped by model score</a:t>
            </a:r>
          </a:p>
        </c:rich>
      </c:tx>
      <c:layout/>
      <c:overlay val="0"/>
    </c:title>
    <c:autoTitleDeleted val="0"/>
    <c:plotArea>
      <c:layout/>
      <c:barChart>
        <c:barDir val="col"/>
        <c:grouping val="clustered"/>
        <c:varyColors val="0"/>
        <c:ser>
          <c:idx val="0"/>
          <c:order val="0"/>
          <c:tx>
            <c:strRef>
              <c:f>Sheet1!$B$1</c:f>
              <c:strCache>
                <c:ptCount val="1"/>
                <c:pt idx="0">
                  <c:v>Drafted</c:v>
                </c:pt>
              </c:strCache>
            </c:strRef>
          </c:tx>
          <c:spPr>
            <a:solidFill>
              <a:srgbClr val="2A7F62"/>
            </a:solidFill>
            <a:effectLst/>
          </c:spPr>
          <c:invertIfNegative val="0"/>
          <c:dLbls>
            <c:numFmt formatCode="0.0&quot;%&quot;" sourceLinked="0"/>
            <c:txPr>
              <a:bodyPr/>
              <a:lstStyle/>
              <a:p>
                <a:pPr>
                  <a:defRPr b="1" i="0" strike="noStrike" sz="1400" u="none">
                    <a:solidFill>
                      <a:srgbClr val="17231D"/>
                    </a:solidFill>
                    <a:latin typeface="+mn-lt"/>
                  </a:defRPr>
                </a:pPr>
              </a:p>
            </c:txPr>
            <c:showLegendKey val="0"/>
            <c:showVal val="1"/>
            <c:showCatName val="0"/>
            <c:showSerName val="0"/>
            <c:showPercent val="0"/>
            <c:showBubbleSize val="0"/>
            <c:showLeaderLines val="0"/>
          </c:dLbls>
          <c:dPt>
            <c:idx val="0"/>
            <c:invertIfNegative val="0"/>
            <c:bubble3D val="0"/>
            <c:spPr>
              <a:solidFill>
                <a:srgbClr val="2A7F62"/>
              </a:solidFill>
              <a:effectLst/>
            </c:spPr>
          </c:dPt>
          <c:dPt>
            <c:idx val="1"/>
            <c:invertIfNegative val="0"/>
            <c:bubble3D val="0"/>
            <c:spPr>
              <a:solidFill>
                <a:srgbClr val="5FA98A"/>
              </a:solidFill>
              <a:effectLst/>
            </c:spPr>
          </c:dPt>
          <c:dPt>
            <c:idx val="2"/>
            <c:invertIfNegative val="0"/>
            <c:bubble3D val="0"/>
            <c:spPr>
              <a:solidFill>
                <a:srgbClr val="B7C4BD"/>
              </a:solidFill>
              <a:effectLst/>
            </c:spPr>
          </c:dPt>
          <c:dPt>
            <c:idx val="3"/>
            <c:invertIfNegative val="0"/>
            <c:bubble3D val="0"/>
            <c:spPr>
              <a:solidFill>
                <a:srgbClr val="E0A030"/>
              </a:solidFill>
              <a:effectLst/>
            </c:spPr>
          </c:dPt>
          <c:dPt>
            <c:idx val="4"/>
            <c:invertIfNegative val="0"/>
            <c:bubble3D val="0"/>
            <c:spPr>
              <a:solidFill>
                <a:srgbClr val="C8553D"/>
              </a:solidFill>
              <a:effectLst/>
            </c:spPr>
          </c:dPt>
          <c:cat>
            <c:multiLvlStrRef>
              <c:f>Sheet1!$A$2:$A$6</c:f>
              <c:multiLvlStrCache>
                <c:ptCount val="5"/>
                <c:lvl>
                  <c:pt idx="0">
                    <c:v>Top 20%</c:v>
                  </c:pt>
                  <c:pt idx="1">
                    <c:v>Next 20%</c:v>
                  </c:pt>
                  <c:pt idx="2">
                    <c:v>Middle 20%</c:v>
                  </c:pt>
                  <c:pt idx="3">
                    <c:v>Next 20%</c:v>
                  </c:pt>
                  <c:pt idx="4">
                    <c:v>Bottom 20%</c:v>
                  </c:pt>
                </c:lvl>
              </c:multiLvlStrCache>
            </c:multiLvlStrRef>
          </c:cat>
          <c:val>
            <c:numRef>
              <c:f>Sheet1!$B$2:$B$6</c:f>
              <c:numCache>
                <c:formatCode>General</c:formatCode>
                <c:ptCount val="5"/>
                <c:pt idx="0">
                  <c:v>90.5</c:v>
                </c:pt>
                <c:pt idx="1">
                  <c:v>78.8</c:v>
                </c:pt>
                <c:pt idx="2">
                  <c:v>69.8</c:v>
                </c:pt>
                <c:pt idx="3">
                  <c:v>53.4</c:v>
                </c:pt>
                <c:pt idx="4">
                  <c:v>31.7</c:v>
                </c:pt>
              </c:numCache>
            </c:numRef>
          </c:val>
        </c:ser>
        <c:dLbls>
          <c:numFmt formatCode="0.0&quot;%&quot;" sourceLinked="0"/>
          <c:txPr>
            <a:bodyPr/>
            <a:lstStyle/>
            <a:p>
              <a:pPr>
                <a:defRPr b="1" i="0" strike="noStrike" sz="1400" u="none">
                  <a:solidFill>
                    <a:srgbClr val="17231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F6F67"/>
                    </a:solidFill>
                    <a:latin typeface="+mn-lt"/>
                  </a:defRPr>
                </a:pPr>
                <a:r>
                  <a:rPr sz="1200" b="0" i="0" u="none" strike="noStrike">
                    <a:solidFill>
                      <a:srgbClr val="5F6F67"/>
                    </a:solidFill>
                    <a:latin typeface="+mn-lt"/>
                  </a:rPr>
                  <a:t>Players ranked by model score (highest to lowest)</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7231D"/>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CE6E0"/>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200" b="0" i="0" u="none" strike="noStrike">
                <a:solidFill>
                  <a:srgbClr val="5F6F67"/>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7231D"/>
                </a:solidFill>
                <a:latin typeface="+mn-lt"/>
              </a:defRPr>
            </a:pPr>
            <a:r>
              <a:rPr sz="1400" b="0" i="0" u="none" strike="noStrike">
                <a:solidFill>
                  <a:srgbClr val="17231D"/>
                </a:solidFill>
                <a:latin typeface="+mn-lt"/>
              </a:rPr>
              <a:t>Players with no recorded age</a:t>
            </a:r>
          </a:p>
        </c:rich>
      </c:tx>
      <c:layout/>
      <c:overlay val="0"/>
    </c:title>
    <c:autoTitleDeleted val="0"/>
    <c:plotArea>
      <c:layout/>
      <c:barChart>
        <c:barDir val="col"/>
        <c:grouping val="clustered"/>
        <c:varyColors val="0"/>
        <c:ser>
          <c:idx val="0"/>
          <c:order val="0"/>
          <c:tx>
            <c:strRef>
              <c:f>Sheet1!$B$1</c:f>
              <c:strCache>
                <c:ptCount val="1"/>
                <c:pt idx="0">
                  <c:v>Age missing</c:v>
                </c:pt>
              </c:strCache>
            </c:strRef>
          </c:tx>
          <c:spPr>
            <a:solidFill>
              <a:srgbClr val="2A7F62"/>
            </a:solidFill>
            <a:effectLst/>
          </c:spPr>
          <c:invertIfNegative val="0"/>
          <c:dLbls>
            <c:numFmt formatCode="0.0&quot;%&quot;" sourceLinked="0"/>
            <c:txPr>
              <a:bodyPr/>
              <a:lstStyle/>
              <a:p>
                <a:pPr>
                  <a:defRPr b="1" i="0" strike="noStrike" sz="1400" u="none">
                    <a:solidFill>
                      <a:srgbClr val="17231D"/>
                    </a:solidFill>
                    <a:latin typeface="+mn-lt"/>
                  </a:defRPr>
                </a:pPr>
              </a:p>
            </c:txPr>
            <c:showLegendKey val="0"/>
            <c:showVal val="1"/>
            <c:showCatName val="0"/>
            <c:showSerName val="0"/>
            <c:showPercent val="0"/>
            <c:showBubbleSize val="0"/>
            <c:showLeaderLines val="0"/>
          </c:dLbls>
          <c:dPt>
            <c:idx val="0"/>
            <c:invertIfNegative val="0"/>
            <c:bubble3D val="0"/>
            <c:spPr>
              <a:solidFill>
                <a:srgbClr val="2A7F62"/>
              </a:solidFill>
              <a:effectLst/>
            </c:spPr>
          </c:dPt>
          <c:dPt>
            <c:idx val="1"/>
            <c:invertIfNegative val="0"/>
            <c:bubble3D val="0"/>
            <c:spPr>
              <a:solidFill>
                <a:srgbClr val="C8553D"/>
              </a:solidFill>
              <a:effectLst/>
            </c:spPr>
          </c:dPt>
          <c:cat>
            <c:multiLvlStrRef>
              <c:f>Sheet1!$A$2:$A$3</c:f>
              <c:multiLvlStrCache>
                <c:ptCount val="2"/>
                <c:lvl>
                  <c:pt idx="0">
                    <c:v>Drafted players</c:v>
                  </c:pt>
                  <c:pt idx="1">
                    <c:v>Undrafted players</c:v>
                  </c:pt>
                </c:lvl>
              </c:multiLvlStrCache>
            </c:multiLvlStrRef>
          </c:cat>
          <c:val>
            <c:numRef>
              <c:f>Sheet1!$B$2:$B$3</c:f>
              <c:numCache>
                <c:formatCode>General</c:formatCode>
                <c:ptCount val="2"/>
                <c:pt idx="0">
                  <c:v>0.4</c:v>
                </c:pt>
                <c:pt idx="1">
                  <c:v>43.7</c:v>
                </c:pt>
              </c:numCache>
            </c:numRef>
          </c:val>
        </c:ser>
        <c:dLbls>
          <c:numFmt formatCode="0.0&quot;%&quot;" sourceLinked="0"/>
          <c:txPr>
            <a:bodyPr/>
            <a:lstStyle/>
            <a:p>
              <a:pPr>
                <a:defRPr b="1" i="0" strike="noStrike" sz="1400" u="none">
                  <a:solidFill>
                    <a:srgbClr val="17231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7231D"/>
                </a:solidFill>
                <a:latin typeface="+mn-lt"/>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9525" cap="flat">
              <a:solidFill>
                <a:srgbClr val="DCE6E0"/>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200" b="0" i="0" u="none" strike="noStrike">
                <a:solidFill>
                  <a:srgbClr val="5F6F67"/>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project asks a simple question: can a score rank who will succeed? We used NFL draft data as a worked example, but the lessons apply directly to ranking leads, accounts or candidates. The deck gives the answer first, then the evidence, then what we recommend you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first. The model is a ranking tool. 76% means: take one drafted and one undrafted player at random and the model scores the drafted one higher 76% of the time; a coin flip would give 50%. The top-scored fifth were drafted about 90% of the time and the bottom-scored fifth only 32% of the time, against a 65% average. So scores are valuable for deciding who to look at first, not for ruling anyone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Collect: nearly 2,800 players with their measurements and results. Learn: we compared five standard methods, from simple to advanced, and averaged them. Test: every score was produced by a model that had not seen that player, and we repeated the test 15 times. That is what makes the numbers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Translate the project into your world. A drafted player is a won deal, the physical measurements are the lead attributes you already track, and the probability is a lead score. The last row matters most: sales systems often contain fields that are only filled in after a deal closes. Models that use them look brilliant and are useless on new leads.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Players were sorted by score and split into five equal groups. The draft rate falls steadily from 90% in the top group to 32% in the bottom group, and every score came from a model that had not seen that player. Because 65% of players are drafted anyway, there is little room above 90%. In a sales setting, where far fewer leads convert, the same ranking power leaves more room to 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for anyone who will use a score. About 44% of undrafted players had no recorded age, against 0.4% of drafted players. The model learned that a blank means undrafted, which lifted the score to 84%. A blank would not exist before a real decision, so we removed it. The honest figure is 76%. Always ask which fields are filled in only after the outcome is 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 is driven by things a business person can understand: age, how fast a player is for his position, the position itself, and a small effect from the school. No black box is needed to explain a score. Also notable: choosing between five different prediction methods moved accuracy by at most about 0.04 on the AUC scale, while the data shortcut moved it by about 0.08. Data quality mattered more than the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actions we recommend. The two that people skip most often are the pilot and the data audit. The pilot is the only proof that survives a skeptical review, and the audit is what protected this project from reporting an inflated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limits. The score cannot see what the data does not contain. A rep who knows a lead has a budget freeze should override the score. We also tested on random splits of past years; the next step is to test on a later year the model has never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proposal, not a commitment. The timeline is a suggestion we can adjust. The key request is a clear definition of success, because the model can only learn what we define. The split pilot gives a fair comparison between teams that use the scores and teams that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three messages. Then open for questions; the appendix has the validation details and a glossary.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technical questions. The three scenarios correspond to using all the data as provided, removing the missing-age flag, and removing age altogether. Scenario B is the one we recommend quoting.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for terms that come up in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sp>
      <p:sp>
        <p:nvSpPr>
          <p:cNvPr id="3" name="Text 1"/>
          <p:cNvSpPr/>
          <p:nvPr>
            <p:ph idx="101" type="title" hasCustomPrompt="1"/>
          </p:nvPr>
        </p:nvSpPr>
        <p:spPr>
          <a:xfrm>
            <a:off x="731520" y="2011680"/>
            <a:ext cx="6766560" cy="2011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18872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NFL Draft Prediction  |  Data Science</a:t>
            </a:r>
            <a:endParaRPr lang="en-US" sz="10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sp>
      <p:sp>
        <p:nvSpPr>
          <p:cNvPr id="3" name="Text 1"/>
          <p:cNvSpPr/>
          <p:nvPr>
            <p:ph idx="101" type="title" hasCustomPrompt="1"/>
          </p:nvPr>
        </p:nvSpPr>
        <p:spPr>
          <a:xfrm>
            <a:off x="731520" y="548640"/>
            <a:ext cx="1069848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731520" y="2011680"/>
            <a:ext cx="6766560" cy="2011680"/>
          </a:xfrm>
          <a:prstGeom prst="rect">
            <a:avLst/>
          </a:prstGeom>
          <a:noFill/>
          <a:ln/>
        </p:spPr>
        <p:txBody>
          <a:bodyPr wrap="square" lIns="0" tIns="0" rIns="0" bIns="0" rtlCol="0" anchor="t"/>
          <a:lstStyle/>
          <a:p>
            <a:pPr algn="l" indent="0" marL="0">
              <a:buNone/>
            </a:pPr>
            <a:r>
              <a:rPr lang="en-US" sz="4400" b="1" dirty="0">
                <a:solidFill>
                  <a:schemeClr val="bg1"/>
                </a:solidFill>
              </a:rPr>
              <a:t>Using predictive scores to prioritize decisions</a:t>
            </a:r>
            <a:endParaRPr lang="en-US" sz="4400" dirty="0"/>
          </a:p>
        </p:txBody>
      </p:sp>
      <p:sp>
        <p:nvSpPr>
          <p:cNvPr id="3" name="Subtitle"/>
          <p:cNvSpPr txBox="1"/>
          <p:nvPr/>
        </p:nvSpPr>
        <p:spPr>
          <a:xfrm>
            <a:off x="731520" y="3840480"/>
            <a:ext cx="6583680" cy="914400"/>
          </a:xfrm>
          <a:prstGeom prst="rect">
            <a:avLst/>
          </a:prstGeom>
          <a:noFill/>
          <a:ln/>
        </p:spPr>
        <p:txBody>
          <a:bodyPr wrap="square" lIns="0" tIns="0" rIns="0" bIns="0" rtlCol="0" anchor="t"/>
          <a:lstStyle/>
          <a:p>
            <a:pPr indent="0" marL="0">
              <a:buNone/>
            </a:pPr>
            <a:r>
              <a:rPr lang="en-US" sz="2000" dirty="0">
                <a:solidFill>
                  <a:schemeClr val="bg2"/>
                </a:solidFill>
              </a:rPr>
              <a:t>Findings and recommendations from the NFL Draft Prediction project, for sales and other teams</a:t>
            </a:r>
            <a:endParaRPr lang="en-US" sz="2000" dirty="0"/>
          </a:p>
        </p:txBody>
      </p:sp>
      <p:sp>
        <p:nvSpPr>
          <p:cNvPr id="4" name="Byline"/>
          <p:cNvSpPr txBox="1"/>
          <p:nvPr/>
        </p:nvSpPr>
        <p:spPr>
          <a:xfrm>
            <a:off x="731520" y="5943600"/>
            <a:ext cx="5486400" cy="320040"/>
          </a:xfrm>
          <a:prstGeom prst="rect">
            <a:avLst/>
          </a:prstGeom>
          <a:noFill/>
          <a:ln/>
        </p:spPr>
        <p:txBody>
          <a:bodyPr wrap="square" lIns="0" tIns="0" rIns="0" bIns="0" rtlCol="0" anchor="ctr"/>
          <a:lstStyle/>
          <a:p>
            <a:pPr indent="0" marL="0">
              <a:buNone/>
            </a:pPr>
            <a:r>
              <a:rPr lang="en-US" sz="1400" dirty="0">
                <a:solidFill>
                  <a:schemeClr val="accent5"/>
                </a:solidFill>
              </a:rPr>
              <a:t>Data Science  |  October 2026</a:t>
            </a:r>
            <a:endParaRPr lang="en-US" sz="1400" dirty="0"/>
          </a:p>
        </p:txBody>
      </p:sp>
      <p:sp>
        <p:nvSpPr>
          <p:cNvPr id="5" name="Hero circle"/>
          <p:cNvSpPr/>
          <p:nvPr/>
        </p:nvSpPr>
        <p:spPr>
          <a:xfrm>
            <a:off x="8138160" y="1371600"/>
            <a:ext cx="3566160" cy="3566160"/>
          </a:xfrm>
          <a:prstGeom prst="ellipse">
            <a:avLst/>
          </a:prstGeom>
          <a:solidFill>
            <a:schemeClr val="accent1"/>
          </a:solidFill>
          <a:ln w="12700">
            <a:solidFill>
              <a:schemeClr val="accent1"/>
            </a:solidFill>
            <a:prstDash val="solid"/>
          </a:ln>
        </p:spPr>
      </p:sp>
      <p:pic>
        <p:nvPicPr>
          <p:cNvPr id="6" name="Hero icon" descr="preencoded.png">    </p:cNvPr>
          <p:cNvPicPr>
            <a:picLocks noChangeAspect="1"/>
          </p:cNvPicPr>
          <p:nvPr/>
        </p:nvPicPr>
        <p:blipFill>
          <a:blip r:embed="rId1"/>
          <a:stretch>
            <a:fillRect/>
          </a:stretch>
        </p:blipFill>
        <p:spPr>
          <a:xfrm>
            <a:off x="9098280" y="2331720"/>
            <a:ext cx="1645920" cy="1645920"/>
          </a:xfrm>
          <a:prstGeom prst="rect">
            <a:avLst/>
          </a:prstGeom>
        </p:spPr>
      </p:pic>
      <p:sp>
        <p:nvSpPr>
          <p:cNvPr id="7" name="Hero dot"/>
          <p:cNvSpPr/>
          <p:nvPr/>
        </p:nvSpPr>
        <p:spPr>
          <a:xfrm>
            <a:off x="7680960" y="4480560"/>
            <a:ext cx="1005840" cy="1005840"/>
          </a:xfrm>
          <a:prstGeom prst="ellipse">
            <a:avLst/>
          </a:prstGeom>
          <a:solidFill>
            <a:schemeClr val="accent3"/>
          </a:solidFill>
          <a:ln w="12700">
            <a:solidFill>
              <a:schemeClr val="accent3"/>
            </a:solidFill>
            <a:prstDash val="solid"/>
          </a:ln>
        </p:spPr>
      </p:sp>
      <p:pic>
        <p:nvPicPr>
          <p:cNvPr id="8" name="Hero dot icon" descr="preencoded.png">    </p:cNvPr>
          <p:cNvPicPr>
            <a:picLocks noChangeAspect="1"/>
          </p:cNvPicPr>
          <p:nvPr/>
        </p:nvPicPr>
        <p:blipFill>
          <a:blip r:embed="rId2"/>
          <a:stretch>
            <a:fillRect/>
          </a:stretch>
        </p:blipFill>
        <p:spPr>
          <a:xfrm>
            <a:off x="7955280" y="4754880"/>
            <a:ext cx="45720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188720"/>
          </a:xfrm>
          <a:prstGeom prst="rect">
            <a:avLst/>
          </a:prstGeom>
          <a:noFill/>
          <a:ln/>
        </p:spPr>
        <p:txBody>
          <a:bodyPr wrap="square" lIns="0" tIns="0" rIns="0" bIns="0" rtlCol="0" anchor="ctr"/>
          <a:lstStyle/>
          <a:p>
            <a:pPr algn="l" indent="0" marL="0">
              <a:buNone/>
            </a:pPr>
            <a:r>
              <a:rPr lang="en-US" sz="3600" b="1" dirty="0">
                <a:solidFill>
                  <a:schemeClr val="tx2"/>
                </a:solidFill>
              </a:rPr>
              <a:t>Use scores to prioritize, not to decide</a:t>
            </a:r>
            <a:endParaRPr lang="en-US" sz="3600" dirty="0"/>
          </a:p>
        </p:txBody>
      </p:sp>
      <p:sp>
        <p:nvSpPr>
          <p:cNvPr id="3" name="Recommendation circle"/>
          <p:cNvSpPr/>
          <p:nvPr/>
        </p:nvSpPr>
        <p:spPr>
          <a:xfrm>
            <a:off x="548640" y="1783080"/>
            <a:ext cx="731520" cy="731520"/>
          </a:xfrm>
          <a:prstGeom prst="ellipse">
            <a:avLst/>
          </a:prstGeom>
          <a:solidFill>
            <a:schemeClr val="accent1"/>
          </a:solidFill>
          <a:ln w="12700">
            <a:solidFill>
              <a:schemeClr val="accent1"/>
            </a:solidFill>
            <a:prstDash val="solid"/>
          </a:ln>
        </p:spPr>
      </p:sp>
      <p:pic>
        <p:nvPicPr>
          <p:cNvPr id="4" name="Recommendation icon" descr="preencoded.png">    </p:cNvPr>
          <p:cNvPicPr>
            <a:picLocks noChangeAspect="1"/>
          </p:cNvPicPr>
          <p:nvPr/>
        </p:nvPicPr>
        <p:blipFill>
          <a:blip r:embed="rId1"/>
          <a:stretch>
            <a:fillRect/>
          </a:stretch>
        </p:blipFill>
        <p:spPr>
          <a:xfrm>
            <a:off x="731520" y="1965960"/>
            <a:ext cx="365760" cy="365760"/>
          </a:xfrm>
          <a:prstGeom prst="rect">
            <a:avLst/>
          </a:prstGeom>
        </p:spPr>
      </p:pic>
      <p:sp>
        <p:nvSpPr>
          <p:cNvPr id="5" name="Label"/>
          <p:cNvSpPr txBox="1"/>
          <p:nvPr/>
        </p:nvSpPr>
        <p:spPr>
          <a:xfrm>
            <a:off x="548640" y="2743200"/>
            <a:ext cx="484632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OUR RECOMMENDATION</a:t>
            </a:r>
            <a:endParaRPr lang="en-US" sz="1200" dirty="0"/>
          </a:p>
        </p:txBody>
      </p:sp>
      <p:sp>
        <p:nvSpPr>
          <p:cNvPr id="6" name="Recommendation"/>
          <p:cNvSpPr txBox="1"/>
          <p:nvPr/>
        </p:nvSpPr>
        <p:spPr>
          <a:xfrm>
            <a:off x="548640" y="3063240"/>
            <a:ext cx="4846320" cy="1463040"/>
          </a:xfrm>
          <a:prstGeom prst="rect">
            <a:avLst/>
          </a:prstGeom>
          <a:noFill/>
          <a:ln/>
        </p:spPr>
        <p:txBody>
          <a:bodyPr wrap="square" lIns="0" tIns="0" rIns="0" bIns="0" rtlCol="0" anchor="t"/>
          <a:lstStyle/>
          <a:p>
            <a:pPr indent="0" marL="0">
              <a:buNone/>
            </a:pPr>
            <a:r>
              <a:rPr lang="en-US" sz="2600" b="1" dirty="0">
                <a:solidFill>
                  <a:schemeClr val="tx2"/>
                </a:solidFill>
              </a:rPr>
              <a:t>Use scores to decide who gets attention first, not who gets dropped.</a:t>
            </a:r>
            <a:endParaRPr lang="en-US" sz="2600" dirty="0"/>
          </a:p>
        </p:txBody>
      </p:sp>
      <p:sp>
        <p:nvSpPr>
          <p:cNvPr id="7" name="Support"/>
          <p:cNvSpPr txBox="1"/>
          <p:nvPr/>
        </p:nvSpPr>
        <p:spPr>
          <a:xfrm>
            <a:off x="548640" y="4663440"/>
            <a:ext cx="4846320" cy="1005840"/>
          </a:xfrm>
          <a:prstGeom prst="rect">
            <a:avLst/>
          </a:prstGeom>
          <a:noFill/>
          <a:ln/>
        </p:spPr>
        <p:txBody>
          <a:bodyPr wrap="square" lIns="0" tIns="0" rIns="0" bIns="0" rtlCol="0" anchor="t"/>
          <a:lstStyle/>
          <a:p>
            <a:pPr indent="0" marL="0">
              <a:buNone/>
            </a:pPr>
            <a:r>
              <a:rPr lang="en-US" sz="1600" dirty="0">
                <a:solidFill>
                  <a:schemeClr val="tx1"/>
                </a:solidFill>
              </a:rPr>
              <a:t>Proof of concept on 2,781 NFL prospects. Every result is measured on players the model had never seen.</a:t>
            </a:r>
            <a:endParaRPr lang="en-US" sz="1600" dirty="0"/>
          </a:p>
        </p:txBody>
      </p:sp>
      <p:sp>
        <p:nvSpPr>
          <p:cNvPr id="8" name="Stat card 1"/>
          <p:cNvSpPr/>
          <p:nvPr/>
        </p:nvSpPr>
        <p:spPr>
          <a:xfrm>
            <a:off x="5943600" y="1737360"/>
            <a:ext cx="5696712" cy="1325880"/>
          </a:xfrm>
          <a:prstGeom prst="roundRect">
            <a:avLst>
              <a:gd name="adj" fmla="val 8276"/>
            </a:avLst>
          </a:prstGeom>
          <a:solidFill>
            <a:schemeClr val="bg2"/>
          </a:solidFill>
          <a:ln w="12700">
            <a:solidFill>
              <a:schemeClr val="bg2"/>
            </a:solidFill>
            <a:prstDash val="solid"/>
          </a:ln>
        </p:spPr>
      </p:sp>
      <p:sp>
        <p:nvSpPr>
          <p:cNvPr id="9" name="Stat 1"/>
          <p:cNvSpPr txBox="1"/>
          <p:nvPr/>
        </p:nvSpPr>
        <p:spPr>
          <a:xfrm>
            <a:off x="6217920" y="1737360"/>
            <a:ext cx="2011680" cy="1325880"/>
          </a:xfrm>
          <a:prstGeom prst="rect">
            <a:avLst/>
          </a:prstGeom>
          <a:noFill/>
          <a:ln/>
        </p:spPr>
        <p:txBody>
          <a:bodyPr wrap="square" lIns="0" tIns="0" rIns="0" bIns="0" rtlCol="0" anchor="ctr"/>
          <a:lstStyle/>
          <a:p>
            <a:pPr indent="0" marL="0">
              <a:buNone/>
            </a:pPr>
            <a:r>
              <a:rPr lang="en-US" sz="4800" b="1" dirty="0">
                <a:solidFill>
                  <a:schemeClr val="accent1"/>
                </a:solidFill>
                <a:latin typeface="+mj-lt" pitchFamily="34" charset="0"/>
                <a:ea typeface="+mj-lt" pitchFamily="34" charset="-122"/>
                <a:cs typeface="+mj-lt" pitchFamily="34" charset="-120"/>
              </a:rPr>
              <a:t>76%</a:t>
            </a:r>
            <a:endParaRPr lang="en-US" sz="4800" dirty="0"/>
          </a:p>
        </p:txBody>
      </p:sp>
      <p:sp>
        <p:nvSpPr>
          <p:cNvPr id="10" name="Stat label 1"/>
          <p:cNvSpPr txBox="1"/>
          <p:nvPr/>
        </p:nvSpPr>
        <p:spPr>
          <a:xfrm>
            <a:off x="8321040" y="1737360"/>
            <a:ext cx="3154680" cy="1325880"/>
          </a:xfrm>
          <a:prstGeom prst="rect">
            <a:avLst/>
          </a:prstGeom>
          <a:noFill/>
          <a:ln/>
        </p:spPr>
        <p:txBody>
          <a:bodyPr wrap="square" lIns="0" tIns="0" rIns="0" bIns="0" rtlCol="0" anchor="ctr"/>
          <a:lstStyle/>
          <a:p>
            <a:pPr indent="0" marL="0">
              <a:buNone/>
            </a:pPr>
            <a:r>
              <a:rPr lang="en-US" sz="1400" dirty="0">
                <a:solidFill>
                  <a:schemeClr val="tx1"/>
                </a:solidFill>
              </a:rPr>
              <a:t>Pick one drafted and one undrafted player at random: the model ranks the drafted one higher 76% of the time (guessing gives 50%).</a:t>
            </a:r>
            <a:endParaRPr lang="en-US" sz="1400" dirty="0"/>
          </a:p>
        </p:txBody>
      </p:sp>
      <p:sp>
        <p:nvSpPr>
          <p:cNvPr id="11" name="Stat card 2"/>
          <p:cNvSpPr/>
          <p:nvPr/>
        </p:nvSpPr>
        <p:spPr>
          <a:xfrm>
            <a:off x="5943600" y="3246120"/>
            <a:ext cx="5696712" cy="1325880"/>
          </a:xfrm>
          <a:prstGeom prst="roundRect">
            <a:avLst>
              <a:gd name="adj" fmla="val 8276"/>
            </a:avLst>
          </a:prstGeom>
          <a:solidFill>
            <a:schemeClr val="bg2"/>
          </a:solidFill>
          <a:ln w="12700">
            <a:solidFill>
              <a:schemeClr val="bg2"/>
            </a:solidFill>
            <a:prstDash val="solid"/>
          </a:ln>
        </p:spPr>
      </p:sp>
      <p:sp>
        <p:nvSpPr>
          <p:cNvPr id="12" name="Stat 2"/>
          <p:cNvSpPr txBox="1"/>
          <p:nvPr/>
        </p:nvSpPr>
        <p:spPr>
          <a:xfrm>
            <a:off x="6217920" y="3246120"/>
            <a:ext cx="2011680" cy="1325880"/>
          </a:xfrm>
          <a:prstGeom prst="rect">
            <a:avLst/>
          </a:prstGeom>
          <a:noFill/>
          <a:ln/>
        </p:spPr>
        <p:txBody>
          <a:bodyPr wrap="square" lIns="0" tIns="0" rIns="0" bIns="0" rtlCol="0" anchor="ctr"/>
          <a:lstStyle/>
          <a:p>
            <a:pPr indent="0" marL="0">
              <a:buNone/>
            </a:pPr>
            <a:r>
              <a:rPr lang="en-US" sz="4800" b="1" dirty="0">
                <a:solidFill>
                  <a:schemeClr val="accent1"/>
                </a:solidFill>
                <a:latin typeface="+mj-lt" pitchFamily="34" charset="0"/>
                <a:ea typeface="+mj-lt" pitchFamily="34" charset="-122"/>
                <a:cs typeface="+mj-lt" pitchFamily="34" charset="-120"/>
              </a:rPr>
              <a:t>~90%</a:t>
            </a:r>
            <a:endParaRPr lang="en-US" sz="4800" dirty="0"/>
          </a:p>
        </p:txBody>
      </p:sp>
      <p:sp>
        <p:nvSpPr>
          <p:cNvPr id="13" name="Stat label 2"/>
          <p:cNvSpPr txBox="1"/>
          <p:nvPr/>
        </p:nvSpPr>
        <p:spPr>
          <a:xfrm>
            <a:off x="8321040" y="3246120"/>
            <a:ext cx="3154680" cy="1325880"/>
          </a:xfrm>
          <a:prstGeom prst="rect">
            <a:avLst/>
          </a:prstGeom>
          <a:noFill/>
          <a:ln/>
        </p:spPr>
        <p:txBody>
          <a:bodyPr wrap="square" lIns="0" tIns="0" rIns="0" bIns="0" rtlCol="0" anchor="ctr"/>
          <a:lstStyle/>
          <a:p>
            <a:pPr indent="0" marL="0">
              <a:buNone/>
            </a:pPr>
            <a:r>
              <a:rPr lang="en-US" sz="1400" dirty="0">
                <a:solidFill>
                  <a:schemeClr val="tx1"/>
                </a:solidFill>
              </a:rPr>
              <a:t>of the 20% of players scored highest were actually drafted, versus 65% across all players.</a:t>
            </a:r>
            <a:endParaRPr lang="en-US" sz="1400" dirty="0"/>
          </a:p>
        </p:txBody>
      </p:sp>
      <p:sp>
        <p:nvSpPr>
          <p:cNvPr id="14" name="Stat card 3"/>
          <p:cNvSpPr/>
          <p:nvPr/>
        </p:nvSpPr>
        <p:spPr>
          <a:xfrm>
            <a:off x="5943600" y="4754880"/>
            <a:ext cx="5696712" cy="1325880"/>
          </a:xfrm>
          <a:prstGeom prst="roundRect">
            <a:avLst>
              <a:gd name="adj" fmla="val 8276"/>
            </a:avLst>
          </a:prstGeom>
          <a:solidFill>
            <a:schemeClr val="bg2"/>
          </a:solidFill>
          <a:ln w="12700">
            <a:solidFill>
              <a:schemeClr val="bg2"/>
            </a:solidFill>
            <a:prstDash val="solid"/>
          </a:ln>
        </p:spPr>
      </p:sp>
      <p:sp>
        <p:nvSpPr>
          <p:cNvPr id="15" name="Stat 3"/>
          <p:cNvSpPr txBox="1"/>
          <p:nvPr/>
        </p:nvSpPr>
        <p:spPr>
          <a:xfrm>
            <a:off x="6217920" y="4754880"/>
            <a:ext cx="2011680" cy="1325880"/>
          </a:xfrm>
          <a:prstGeom prst="rect">
            <a:avLst/>
          </a:prstGeom>
          <a:noFill/>
          <a:ln/>
        </p:spPr>
        <p:txBody>
          <a:bodyPr wrap="square" lIns="0" tIns="0" rIns="0" bIns="0" rtlCol="0" anchor="ctr"/>
          <a:lstStyle/>
          <a:p>
            <a:pPr indent="0" marL="0">
              <a:buNone/>
            </a:pPr>
            <a:r>
              <a:rPr lang="en-US" sz="4800" b="1" dirty="0">
                <a:solidFill>
                  <a:schemeClr val="accent2"/>
                </a:solidFill>
                <a:latin typeface="+mj-lt" pitchFamily="34" charset="0"/>
                <a:ea typeface="+mj-lt" pitchFamily="34" charset="-122"/>
                <a:cs typeface="+mj-lt" pitchFamily="34" charset="-120"/>
              </a:rPr>
              <a:t>32%</a:t>
            </a:r>
            <a:endParaRPr lang="en-US" sz="4800" dirty="0"/>
          </a:p>
        </p:txBody>
      </p:sp>
      <p:sp>
        <p:nvSpPr>
          <p:cNvPr id="16" name="Stat label 3"/>
          <p:cNvSpPr txBox="1"/>
          <p:nvPr/>
        </p:nvSpPr>
        <p:spPr>
          <a:xfrm>
            <a:off x="8321040" y="4754880"/>
            <a:ext cx="3154680" cy="1325880"/>
          </a:xfrm>
          <a:prstGeom prst="rect">
            <a:avLst/>
          </a:prstGeom>
          <a:noFill/>
          <a:ln/>
        </p:spPr>
        <p:txBody>
          <a:bodyPr wrap="square" lIns="0" tIns="0" rIns="0" bIns="0" rtlCol="0" anchor="ctr"/>
          <a:lstStyle/>
          <a:p>
            <a:pPr indent="0" marL="0">
              <a:buNone/>
            </a:pPr>
            <a:r>
              <a:rPr lang="en-US" sz="1400" dirty="0">
                <a:solidFill>
                  <a:schemeClr val="tx1"/>
                </a:solidFill>
              </a:rPr>
              <a:t>of the 20% scored lowest were drafted. Scores separate the strongest from the weakest.</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188720"/>
          </a:xfrm>
          <a:prstGeom prst="rect">
            <a:avLst/>
          </a:prstGeom>
          <a:noFill/>
          <a:ln/>
        </p:spPr>
        <p:txBody>
          <a:bodyPr wrap="square" lIns="0" tIns="0" rIns="0" bIns="0" rtlCol="0" anchor="ctr"/>
          <a:lstStyle/>
          <a:p>
            <a:pPr algn="l" indent="0" marL="0">
              <a:buNone/>
            </a:pPr>
            <a:r>
              <a:rPr lang="en-US" sz="3600" b="1" dirty="0">
                <a:solidFill>
                  <a:schemeClr val="tx2"/>
                </a:solidFill>
              </a:rPr>
              <a:t>We tested whether a score can rank outcomes</a:t>
            </a:r>
            <a:endParaRPr lang="en-US" sz="3600" dirty="0"/>
          </a:p>
        </p:txBody>
      </p:sp>
      <p:sp>
        <p:nvSpPr>
          <p:cNvPr id="3" name="Step card 1"/>
          <p:cNvSpPr/>
          <p:nvPr/>
        </p:nvSpPr>
        <p:spPr>
          <a:xfrm>
            <a:off x="548640" y="1737360"/>
            <a:ext cx="3447288" cy="3429000"/>
          </a:xfrm>
          <a:prstGeom prst="roundRect">
            <a:avLst>
              <a:gd name="adj" fmla="val 3200"/>
            </a:avLst>
          </a:prstGeom>
          <a:solidFill>
            <a:schemeClr val="bg2"/>
          </a:solidFill>
          <a:ln w="12700">
            <a:solidFill>
              <a:schemeClr val="bg2"/>
            </a:solidFill>
            <a:prstDash val="solid"/>
          </a:ln>
        </p:spPr>
      </p:sp>
      <p:sp>
        <p:nvSpPr>
          <p:cNvPr id="4" name="Step 1 circle"/>
          <p:cNvSpPr/>
          <p:nvPr/>
        </p:nvSpPr>
        <p:spPr>
          <a:xfrm>
            <a:off x="868680" y="2057400"/>
            <a:ext cx="822960" cy="822960"/>
          </a:xfrm>
          <a:prstGeom prst="ellipse">
            <a:avLst/>
          </a:prstGeom>
          <a:solidFill>
            <a:schemeClr val="accent1"/>
          </a:solidFill>
          <a:ln w="12700">
            <a:solidFill>
              <a:schemeClr val="accent1"/>
            </a:solidFill>
            <a:prstDash val="solid"/>
          </a:ln>
        </p:spPr>
      </p:sp>
      <p:pic>
        <p:nvPicPr>
          <p:cNvPr id="5" name="Step 1 icon" descr="preencoded.png">    </p:cNvPr>
          <p:cNvPicPr>
            <a:picLocks noChangeAspect="1"/>
          </p:cNvPicPr>
          <p:nvPr/>
        </p:nvPicPr>
        <p:blipFill>
          <a:blip r:embed="rId1"/>
          <a:stretch>
            <a:fillRect/>
          </a:stretch>
        </p:blipFill>
        <p:spPr>
          <a:xfrm>
            <a:off x="1074420" y="2263140"/>
            <a:ext cx="411480" cy="411480"/>
          </a:xfrm>
          <a:prstGeom prst="rect">
            <a:avLst/>
          </a:prstGeom>
        </p:spPr>
      </p:pic>
      <p:sp>
        <p:nvSpPr>
          <p:cNvPr id="6" name="Step header 1"/>
          <p:cNvSpPr txBox="1"/>
          <p:nvPr/>
        </p:nvSpPr>
        <p:spPr>
          <a:xfrm>
            <a:off x="868680" y="3108960"/>
            <a:ext cx="2807208" cy="411480"/>
          </a:xfrm>
          <a:prstGeom prst="rect">
            <a:avLst/>
          </a:prstGeom>
          <a:noFill/>
          <a:ln/>
        </p:spPr>
        <p:txBody>
          <a:bodyPr wrap="square" lIns="0" tIns="0" rIns="0" bIns="0" rtlCol="0" anchor="ctr"/>
          <a:lstStyle/>
          <a:p>
            <a:pPr indent="0" marL="0">
              <a:buNone/>
            </a:pPr>
            <a:r>
              <a:rPr lang="en-US" sz="2400" b="1" dirty="0">
                <a:solidFill>
                  <a:schemeClr val="tx2"/>
                </a:solidFill>
              </a:rPr>
              <a:t>Collect</a:t>
            </a:r>
            <a:endParaRPr lang="en-US" sz="2400" dirty="0"/>
          </a:p>
        </p:txBody>
      </p:sp>
      <p:sp>
        <p:nvSpPr>
          <p:cNvPr id="7" name="Step body 1"/>
          <p:cNvSpPr txBox="1"/>
          <p:nvPr/>
        </p:nvSpPr>
        <p:spPr>
          <a:xfrm>
            <a:off x="868680" y="3611880"/>
            <a:ext cx="2807208" cy="1417320"/>
          </a:xfrm>
          <a:prstGeom prst="rect">
            <a:avLst/>
          </a:prstGeom>
          <a:noFill/>
          <a:ln/>
        </p:spPr>
        <p:txBody>
          <a:bodyPr wrap="square" lIns="0" tIns="0" rIns="0" bIns="0" rtlCol="0" anchor="t"/>
          <a:lstStyle/>
          <a:p>
            <a:pPr indent="0" marL="0">
              <a:buNone/>
            </a:pPr>
            <a:r>
              <a:rPr lang="en-US" sz="1600" dirty="0">
                <a:solidFill>
                  <a:schemeClr val="tx1"/>
                </a:solidFill>
              </a:rPr>
              <a:t>2,781 players (2009–2019): size, drills, position, school, age, and whether each was drafted.</a:t>
            </a:r>
            <a:endParaRPr lang="en-US" sz="1600" dirty="0"/>
          </a:p>
        </p:txBody>
      </p:sp>
      <p:sp>
        <p:nvSpPr>
          <p:cNvPr id="8" name="Step card 2"/>
          <p:cNvSpPr/>
          <p:nvPr/>
        </p:nvSpPr>
        <p:spPr>
          <a:xfrm>
            <a:off x="4370832" y="1737360"/>
            <a:ext cx="3447288" cy="3429000"/>
          </a:xfrm>
          <a:prstGeom prst="roundRect">
            <a:avLst>
              <a:gd name="adj" fmla="val 3200"/>
            </a:avLst>
          </a:prstGeom>
          <a:solidFill>
            <a:schemeClr val="bg2"/>
          </a:solidFill>
          <a:ln w="12700">
            <a:solidFill>
              <a:schemeClr val="bg2"/>
            </a:solidFill>
            <a:prstDash val="solid"/>
          </a:ln>
        </p:spPr>
      </p:sp>
      <p:sp>
        <p:nvSpPr>
          <p:cNvPr id="9" name="Step 2 circle"/>
          <p:cNvSpPr/>
          <p:nvPr/>
        </p:nvSpPr>
        <p:spPr>
          <a:xfrm>
            <a:off x="4690872" y="2057400"/>
            <a:ext cx="822960" cy="822960"/>
          </a:xfrm>
          <a:prstGeom prst="ellipse">
            <a:avLst/>
          </a:prstGeom>
          <a:solidFill>
            <a:schemeClr val="accent1"/>
          </a:solidFill>
          <a:ln w="12700">
            <a:solidFill>
              <a:schemeClr val="accent1"/>
            </a:solidFill>
            <a:prstDash val="solid"/>
          </a:ln>
        </p:spPr>
      </p:sp>
      <p:pic>
        <p:nvPicPr>
          <p:cNvPr id="10" name="Step 2 icon" descr="preencoded.png">    </p:cNvPr>
          <p:cNvPicPr>
            <a:picLocks noChangeAspect="1"/>
          </p:cNvPicPr>
          <p:nvPr/>
        </p:nvPicPr>
        <p:blipFill>
          <a:blip r:embed="rId2"/>
          <a:stretch>
            <a:fillRect/>
          </a:stretch>
        </p:blipFill>
        <p:spPr>
          <a:xfrm>
            <a:off x="4896612" y="2263140"/>
            <a:ext cx="411480" cy="411480"/>
          </a:xfrm>
          <a:prstGeom prst="rect">
            <a:avLst/>
          </a:prstGeom>
        </p:spPr>
      </p:pic>
      <p:sp>
        <p:nvSpPr>
          <p:cNvPr id="11" name="Step header 2"/>
          <p:cNvSpPr txBox="1"/>
          <p:nvPr/>
        </p:nvSpPr>
        <p:spPr>
          <a:xfrm>
            <a:off x="4690872" y="3108960"/>
            <a:ext cx="2807208" cy="411480"/>
          </a:xfrm>
          <a:prstGeom prst="rect">
            <a:avLst/>
          </a:prstGeom>
          <a:noFill/>
          <a:ln/>
        </p:spPr>
        <p:txBody>
          <a:bodyPr wrap="square" lIns="0" tIns="0" rIns="0" bIns="0" rtlCol="0" anchor="ctr"/>
          <a:lstStyle/>
          <a:p>
            <a:pPr indent="0" marL="0">
              <a:buNone/>
            </a:pPr>
            <a:r>
              <a:rPr lang="en-US" sz="2400" b="1" dirty="0">
                <a:solidFill>
                  <a:schemeClr val="tx2"/>
                </a:solidFill>
              </a:rPr>
              <a:t>Learn</a:t>
            </a:r>
            <a:endParaRPr lang="en-US" sz="2400" dirty="0"/>
          </a:p>
        </p:txBody>
      </p:sp>
      <p:sp>
        <p:nvSpPr>
          <p:cNvPr id="12" name="Step body 2"/>
          <p:cNvSpPr txBox="1"/>
          <p:nvPr/>
        </p:nvSpPr>
        <p:spPr>
          <a:xfrm>
            <a:off x="4690872" y="3611880"/>
            <a:ext cx="2807208" cy="1417320"/>
          </a:xfrm>
          <a:prstGeom prst="rect">
            <a:avLst/>
          </a:prstGeom>
          <a:noFill/>
          <a:ln/>
        </p:spPr>
        <p:txBody>
          <a:bodyPr wrap="square" lIns="0" tIns="0" rIns="0" bIns="0" rtlCol="0" anchor="t"/>
          <a:lstStyle/>
          <a:p>
            <a:pPr indent="0" marL="0">
              <a:buNone/>
            </a:pPr>
            <a:r>
              <a:rPr lang="en-US" sz="1600" dirty="0">
                <a:solidFill>
                  <a:schemeClr val="tx1"/>
                </a:solidFill>
              </a:rPr>
              <a:t>Five standard prediction methods learned from past players, and their scores were averaged into one.</a:t>
            </a:r>
            <a:endParaRPr lang="en-US" sz="1600" dirty="0"/>
          </a:p>
        </p:txBody>
      </p:sp>
      <p:sp>
        <p:nvSpPr>
          <p:cNvPr id="13" name="Step card 3"/>
          <p:cNvSpPr/>
          <p:nvPr/>
        </p:nvSpPr>
        <p:spPr>
          <a:xfrm>
            <a:off x="8193024" y="1737360"/>
            <a:ext cx="3447288" cy="3429000"/>
          </a:xfrm>
          <a:prstGeom prst="roundRect">
            <a:avLst>
              <a:gd name="adj" fmla="val 3200"/>
            </a:avLst>
          </a:prstGeom>
          <a:solidFill>
            <a:schemeClr val="bg2"/>
          </a:solidFill>
          <a:ln w="12700">
            <a:solidFill>
              <a:schemeClr val="bg2"/>
            </a:solidFill>
            <a:prstDash val="solid"/>
          </a:ln>
        </p:spPr>
      </p:sp>
      <p:sp>
        <p:nvSpPr>
          <p:cNvPr id="14" name="Step 3 circle"/>
          <p:cNvSpPr/>
          <p:nvPr/>
        </p:nvSpPr>
        <p:spPr>
          <a:xfrm>
            <a:off x="8513064" y="2057400"/>
            <a:ext cx="822960" cy="822960"/>
          </a:xfrm>
          <a:prstGeom prst="ellipse">
            <a:avLst/>
          </a:prstGeom>
          <a:solidFill>
            <a:schemeClr val="accent1"/>
          </a:solidFill>
          <a:ln w="12700">
            <a:solidFill>
              <a:schemeClr val="accent1"/>
            </a:solidFill>
            <a:prstDash val="solid"/>
          </a:ln>
        </p:spPr>
      </p:sp>
      <p:pic>
        <p:nvPicPr>
          <p:cNvPr id="15" name="Step 3 icon" descr="preencoded.png">    </p:cNvPr>
          <p:cNvPicPr>
            <a:picLocks noChangeAspect="1"/>
          </p:cNvPicPr>
          <p:nvPr/>
        </p:nvPicPr>
        <p:blipFill>
          <a:blip r:embed="rId3"/>
          <a:stretch>
            <a:fillRect/>
          </a:stretch>
        </p:blipFill>
        <p:spPr>
          <a:xfrm>
            <a:off x="8718804" y="2263140"/>
            <a:ext cx="411480" cy="411480"/>
          </a:xfrm>
          <a:prstGeom prst="rect">
            <a:avLst/>
          </a:prstGeom>
        </p:spPr>
      </p:pic>
      <p:sp>
        <p:nvSpPr>
          <p:cNvPr id="16" name="Step header 3"/>
          <p:cNvSpPr txBox="1"/>
          <p:nvPr/>
        </p:nvSpPr>
        <p:spPr>
          <a:xfrm>
            <a:off x="8513064" y="3108960"/>
            <a:ext cx="2807208" cy="411480"/>
          </a:xfrm>
          <a:prstGeom prst="rect">
            <a:avLst/>
          </a:prstGeom>
          <a:noFill/>
          <a:ln/>
        </p:spPr>
        <p:txBody>
          <a:bodyPr wrap="square" lIns="0" tIns="0" rIns="0" bIns="0" rtlCol="0" anchor="ctr"/>
          <a:lstStyle/>
          <a:p>
            <a:pPr indent="0" marL="0">
              <a:buNone/>
            </a:pPr>
            <a:r>
              <a:rPr lang="en-US" sz="2400" b="1" dirty="0">
                <a:solidFill>
                  <a:schemeClr val="tx2"/>
                </a:solidFill>
              </a:rPr>
              <a:t>Test</a:t>
            </a:r>
            <a:endParaRPr lang="en-US" sz="2400" dirty="0"/>
          </a:p>
        </p:txBody>
      </p:sp>
      <p:sp>
        <p:nvSpPr>
          <p:cNvPr id="17" name="Step body 3"/>
          <p:cNvSpPr txBox="1"/>
          <p:nvPr/>
        </p:nvSpPr>
        <p:spPr>
          <a:xfrm>
            <a:off x="8513064" y="3611880"/>
            <a:ext cx="2807208" cy="1417320"/>
          </a:xfrm>
          <a:prstGeom prst="rect">
            <a:avLst/>
          </a:prstGeom>
          <a:noFill/>
          <a:ln/>
        </p:spPr>
        <p:txBody>
          <a:bodyPr wrap="square" lIns="0" tIns="0" rIns="0" bIns="0" rtlCol="0" anchor="t"/>
          <a:lstStyle/>
          <a:p>
            <a:pPr indent="0" marL="0">
              <a:buNone/>
            </a:pPr>
            <a:r>
              <a:rPr lang="en-US" sz="1600" dirty="0">
                <a:solidFill>
                  <a:schemeClr val="tx1"/>
                </a:solidFill>
              </a:rPr>
              <a:t>Scores were checked on players the model had never seen, repeated 15 times, so results are not flattering.</a:t>
            </a:r>
            <a:endParaRPr lang="en-US" sz="1600" dirty="0"/>
          </a:p>
        </p:txBody>
      </p:sp>
      <p:sp>
        <p:nvSpPr>
          <p:cNvPr id="18" name="Result banner card"/>
          <p:cNvSpPr/>
          <p:nvPr/>
        </p:nvSpPr>
        <p:spPr>
          <a:xfrm>
            <a:off x="548640" y="5440680"/>
            <a:ext cx="11091672" cy="685800"/>
          </a:xfrm>
          <a:prstGeom prst="roundRect">
            <a:avLst>
              <a:gd name="adj" fmla="val 16000"/>
            </a:avLst>
          </a:prstGeom>
          <a:solidFill>
            <a:schemeClr val="tx2"/>
          </a:solidFill>
          <a:ln w="12700">
            <a:solidFill>
              <a:schemeClr val="tx2"/>
            </a:solidFill>
            <a:prstDash val="solid"/>
          </a:ln>
        </p:spPr>
      </p:sp>
      <p:sp>
        <p:nvSpPr>
          <p:cNvPr id="19" name="Result banner"/>
          <p:cNvSpPr txBox="1"/>
          <p:nvPr/>
        </p:nvSpPr>
        <p:spPr>
          <a:xfrm>
            <a:off x="822960" y="5440680"/>
            <a:ext cx="10543032" cy="685800"/>
          </a:xfrm>
          <a:prstGeom prst="rect">
            <a:avLst/>
          </a:prstGeom>
          <a:noFill/>
          <a:ln/>
        </p:spPr>
        <p:txBody>
          <a:bodyPr wrap="square" lIns="0" tIns="0" rIns="0" bIns="0" rtlCol="0" anchor="ctr"/>
          <a:lstStyle/>
          <a:p>
            <a:pPr indent="0" marL="0">
              <a:buNone/>
            </a:pPr>
            <a:r>
              <a:rPr lang="en-US" sz="1800" b="1" dirty="0">
                <a:solidFill>
                  <a:schemeClr val="bg1"/>
                </a:solidFill>
              </a:rPr>
              <a:t>Result: every player gets a score from 0 to 100% for the chance of being drafted.</a:t>
            </a:r>
            <a:endParaRPr lang="en-US" sz="18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188720"/>
          </a:xfrm>
          <a:prstGeom prst="rect">
            <a:avLst/>
          </a:prstGeom>
          <a:noFill/>
          <a:ln/>
        </p:spPr>
        <p:txBody>
          <a:bodyPr wrap="square" lIns="0" tIns="0" rIns="0" bIns="0" rtlCol="0" anchor="ctr"/>
          <a:lstStyle/>
          <a:p>
            <a:pPr algn="l" indent="0" marL="0">
              <a:buNone/>
            </a:pPr>
            <a:r>
              <a:rPr lang="en-US" sz="3600" b="1" dirty="0">
                <a:solidFill>
                  <a:schemeClr val="tx2"/>
                </a:solidFill>
              </a:rPr>
              <a:t>The same method maps onto leads and deals</a:t>
            </a:r>
            <a:endParaRPr lang="en-US" sz="3600" dirty="0"/>
          </a:p>
        </p:txBody>
      </p:sp>
      <p:graphicFrame>
        <p:nvGraphicFramePr>
          <p:cNvPr id="5" name="Mapping table"/>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4572000"/>
                <a:gridCol w="822960"/>
                <a:gridCol w="5696712"/>
              </a:tblGrid>
              <a:tr h="548640">
                <a:tc>
                  <a:txBody>
                    <a:bodyPr/>
                    <a:lstStyle/>
                    <a:p>
                      <a:pPr indent="0" marL="0">
                        <a:buNone/>
                      </a:pPr>
                      <a:r>
                        <a:rPr lang="en-US" sz="1600" b="1" dirty="0">
                          <a:solidFill>
                            <a:srgbClr val="FFFFFF"/>
                          </a:solidFill>
                        </a:rPr>
                        <a:t>In this project</a:t>
                      </a:r>
                      <a:endParaRPr lang="en-US" sz="1600" dirty="0"/>
                    </a:p>
                  </a:txBody>
                  <a:tcPr marL="182880" marR="182880" marT="0" marB="0" anchor="ctr">
                    <a:lnL w="9525" cap="flat" cmpd="sng" algn="ctr">
                      <a:solidFill>
                        <a:srgbClr val="DCE6E0"/>
                      </a:solidFill>
                      <a:prstDash val="solid"/>
                      <a:round/>
                      <a:headEnd type="none" w="med" len="med"/>
                      <a:tailEnd type="none" w="med" len="med"/>
                    </a:lnL>
                    <a:lnR w="9525" cap="flat" cmpd="sng" algn="ctr">
                      <a:solidFill>
                        <a:srgbClr val="DCE6E0"/>
                      </a:solidFill>
                      <a:prstDash val="solid"/>
                      <a:round/>
                      <a:headEnd type="none" w="med" len="med"/>
                      <a:tailEnd type="none" w="med" len="med"/>
                    </a:lnR>
                    <a:lnT w="9525" cap="flat" cmpd="sng" algn="ctr">
                      <a:solidFill>
                        <a:srgbClr val="DCE6E0"/>
                      </a:solidFill>
                      <a:prstDash val="solid"/>
                      <a:round/>
                      <a:headEnd type="none" w="med" len="med"/>
                      <a:tailEnd type="none" w="med" len="med"/>
                    </a:lnT>
                    <a:lnB w="9525" cap="flat" cmpd="sng" algn="ctr">
                      <a:solidFill>
                        <a:srgbClr val="DCE6E0"/>
                      </a:solidFill>
                      <a:prstDash val="solid"/>
                      <a:round/>
                      <a:headEnd type="none" w="med" len="med"/>
                      <a:tailEnd type="none" w="med" len="med"/>
                    </a:lnB>
                    <a:solidFill>
                      <a:srgbClr val="0F3D2E"/>
                    </a:solidFill>
                  </a:tcPr>
                </a:tc>
                <a:tc>
                  <a:txBody>
                    <a:bodyPr/>
                    <a:lstStyle/>
                    <a:p>
                      <a:pPr indent="0" marL="0">
                        <a:buNone/>
                      </a:pPr>
                      <a:endParaRPr lang="en-US" sz="1200" dirty="0"/>
                    </a:p>
                  </a:txBody>
                  <a:tcPr marL="182880" marR="182880" marT="0" marB="0">
                    <a:lnL w="9525" cap="flat" cmpd="sng" algn="ctr">
                      <a:solidFill>
                        <a:srgbClr val="DCE6E0"/>
                      </a:solidFill>
                      <a:prstDash val="solid"/>
                      <a:round/>
                      <a:headEnd type="none" w="med" len="med"/>
                      <a:tailEnd type="none" w="med" len="med"/>
                    </a:lnL>
                    <a:lnR w="9525" cap="flat" cmpd="sng" algn="ctr">
                      <a:solidFill>
                        <a:srgbClr val="DCE6E0"/>
                      </a:solidFill>
                      <a:prstDash val="solid"/>
                      <a:round/>
                      <a:headEnd type="none" w="med" len="med"/>
                      <a:tailEnd type="none" w="med" len="med"/>
                    </a:lnR>
                    <a:lnT w="9525" cap="flat" cmpd="sng" algn="ctr">
                      <a:solidFill>
                        <a:srgbClr val="DCE6E0"/>
                      </a:solidFill>
                      <a:prstDash val="solid"/>
                      <a:round/>
                      <a:headEnd type="none" w="med" len="med"/>
                      <a:tailEnd type="none" w="med" len="med"/>
                    </a:lnT>
                    <a:lnB w="9525" cap="flat" cmpd="sng" algn="ctr">
                      <a:solidFill>
                        <a:srgbClr val="DCE6E0"/>
                      </a:solidFill>
                      <a:prstDash val="solid"/>
                      <a:round/>
                      <a:headEnd type="none" w="med" len="med"/>
                      <a:tailEnd type="none" w="med" len="med"/>
                    </a:lnB>
                    <a:solidFill>
                      <a:srgbClr val="0F3D2E"/>
                    </a:solidFill>
                  </a:tcPr>
                </a:tc>
                <a:tc>
                  <a:txBody>
                    <a:bodyPr/>
                    <a:lstStyle/>
                    <a:p>
                      <a:pPr indent="0" marL="0">
                        <a:buNone/>
                      </a:pPr>
                      <a:r>
                        <a:rPr lang="en-US" sz="1600" b="1" dirty="0">
                          <a:solidFill>
                            <a:srgbClr val="FFFFFF"/>
                          </a:solidFill>
                        </a:rPr>
                        <a:t>In your world</a:t>
                      </a:r>
                      <a:endParaRPr lang="en-US" sz="1600" dirty="0"/>
                    </a:p>
                  </a:txBody>
                  <a:tcPr marL="182880" marR="182880" marT="0" marB="0" anchor="ctr">
                    <a:lnL w="9525" cap="flat" cmpd="sng" algn="ctr">
                      <a:solidFill>
                        <a:srgbClr val="DCE6E0"/>
                      </a:solidFill>
                      <a:prstDash val="solid"/>
                      <a:round/>
                      <a:headEnd type="none" w="med" len="med"/>
                      <a:tailEnd type="none" w="med" len="med"/>
                    </a:lnL>
                    <a:lnR w="9525" cap="flat" cmpd="sng" algn="ctr">
                      <a:solidFill>
                        <a:srgbClr val="DCE6E0"/>
                      </a:solidFill>
                      <a:prstDash val="solid"/>
                      <a:round/>
                      <a:headEnd type="none" w="med" len="med"/>
                      <a:tailEnd type="none" w="med" len="med"/>
                    </a:lnR>
                    <a:lnT w="9525" cap="flat" cmpd="sng" algn="ctr">
                      <a:solidFill>
                        <a:srgbClr val="DCE6E0"/>
                      </a:solidFill>
                      <a:prstDash val="solid"/>
                      <a:round/>
                      <a:headEnd type="none" w="med" len="med"/>
                      <a:tailEnd type="none" w="med" len="med"/>
                    </a:lnT>
                    <a:lnB w="9525" cap="flat" cmpd="sng" algn="ctr">
                      <a:solidFill>
                        <a:srgbClr val="DCE6E0"/>
                      </a:solidFill>
                      <a:prstDash val="solid"/>
                      <a:round/>
                      <a:headEnd type="none" w="med" len="med"/>
                      <a:tailEnd type="none" w="med" len="med"/>
                    </a:lnB>
                    <a:solidFill>
                      <a:srgbClr val="0F3D2E"/>
                    </a:solidFill>
                  </a:tcPr>
                </a:tc>
              </a:tr>
              <a:tr h="731520">
                <a:tc>
                  <a:txBody>
                    <a:bodyPr/>
                    <a:lstStyle/>
                    <a:p>
                      <a:pPr indent="0" marL="0">
                        <a:buNone/>
                      </a:pPr>
                      <a:r>
                        <a:rPr lang="en-US" sz="1600" dirty="0">
                          <a:solidFill>
                            <a:srgbClr val="17231D"/>
                          </a:solidFill>
                        </a:rPr>
                        <a:t>A player gets drafted</a:t>
                      </a:r>
                      <a:endParaRPr lang="en-US" sz="1600" dirty="0"/>
                    </a:p>
                  </a:txBody>
                  <a:tcPr marL="182880" marR="182880" marT="0" marB="0" anchor="ctr">
                    <a:lnL w="9525" cap="flat" cmpd="sng" algn="ctr">
                      <a:solidFill>
                        <a:srgbClr val="DCE6E0"/>
                      </a:solidFill>
                      <a:prstDash val="solid"/>
                      <a:round/>
                      <a:headEnd type="none" w="med" len="med"/>
                      <a:tailEnd type="none" w="med" len="med"/>
                    </a:lnL>
                    <a:lnR w="9525" cap="flat" cmpd="sng" algn="ctr">
                      <a:solidFill>
                        <a:srgbClr val="DCE6E0"/>
                      </a:solidFill>
                      <a:prstDash val="solid"/>
                      <a:round/>
                      <a:headEnd type="none" w="med" len="med"/>
                      <a:tailEnd type="none" w="med" len="med"/>
                    </a:lnR>
                    <a:lnT w="9525" cap="flat" cmpd="sng" algn="ctr">
                      <a:solidFill>
                        <a:srgbClr val="DCE6E0"/>
                      </a:solidFill>
                      <a:prstDash val="solid"/>
                      <a:round/>
                      <a:headEnd type="none" w="med" len="med"/>
                      <a:tailEnd type="none" w="med" len="med"/>
                    </a:lnT>
                    <a:lnB w="9525" cap="flat" cmpd="sng" algn="ctr">
                      <a:solidFill>
                        <a:srgbClr val="DCE6E0"/>
                      </a:solidFill>
                      <a:prstDash val="solid"/>
                      <a:round/>
                      <a:headEnd type="none" w="med" len="med"/>
                      <a:tailEnd type="none" w="med" len="med"/>
                    </a:lnB>
                    <a:solidFill>
                      <a:srgbClr val="EAF3EE"/>
                    </a:solidFill>
                  </a:tcPr>
                </a:tc>
                <a:tc>
                  <a:txBody>
                    <a:bodyPr/>
                    <a:lstStyle/>
                    <a:p>
                      <a:pPr algn="ctr" indent="0" marL="0">
                        <a:buNone/>
                      </a:pPr>
                      <a:r>
                        <a:rPr lang="en-US" sz="2400" b="1" dirty="0">
                          <a:solidFill>
                            <a:srgbClr val="2A7F62"/>
                          </a:solidFill>
                        </a:rPr>
                        <a:t>→</a:t>
                      </a:r>
                      <a:endParaRPr lang="en-US" sz="2400" dirty="0"/>
                    </a:p>
                  </a:txBody>
                  <a:tcPr marL="182880" marR="182880" marT="0" marB="0" anchor="ctr">
                    <a:lnL w="9525" cap="flat" cmpd="sng" algn="ctr">
                      <a:solidFill>
                        <a:srgbClr val="DCE6E0"/>
                      </a:solidFill>
                      <a:prstDash val="solid"/>
                      <a:round/>
                      <a:headEnd type="none" w="med" len="med"/>
                      <a:tailEnd type="none" w="med" len="med"/>
                    </a:lnL>
                    <a:lnR w="9525" cap="flat" cmpd="sng" algn="ctr">
                      <a:solidFill>
                        <a:srgbClr val="DCE6E0"/>
                      </a:solidFill>
                      <a:prstDash val="solid"/>
                      <a:round/>
                      <a:headEnd type="none" w="med" len="med"/>
                      <a:tailEnd type="none" w="med" len="med"/>
                    </a:lnR>
                    <a:lnT w="9525" cap="flat" cmpd="sng" algn="ctr">
                      <a:solidFill>
                        <a:srgbClr val="DCE6E0"/>
                      </a:solidFill>
                      <a:prstDash val="solid"/>
                      <a:round/>
                      <a:headEnd type="none" w="med" len="med"/>
                      <a:tailEnd type="none" w="med" len="med"/>
                    </a:lnT>
                    <a:lnB w="9525" cap="flat" cmpd="sng" algn="ctr">
                      <a:solidFill>
                        <a:srgbClr val="DCE6E0"/>
                      </a:solidFill>
                      <a:prstDash val="solid"/>
                      <a:round/>
                      <a:headEnd type="none" w="med" len="med"/>
                      <a:tailEnd type="none" w="med" len="med"/>
                    </a:lnB>
                    <a:solidFill>
                      <a:srgbClr val="EAF3EE"/>
                    </a:solidFill>
                  </a:tcPr>
                </a:tc>
                <a:tc>
                  <a:txBody>
                    <a:bodyPr/>
                    <a:lstStyle/>
                    <a:p>
                      <a:pPr indent="0" marL="0">
                        <a:buNone/>
                      </a:pPr>
                      <a:r>
                        <a:rPr lang="en-US" sz="1600" dirty="0">
                          <a:solidFill>
                            <a:srgbClr val="17231D"/>
                          </a:solidFill>
                        </a:rPr>
                        <a:t>A lead becomes a customer</a:t>
                      </a:r>
                      <a:endParaRPr lang="en-US" sz="1600" dirty="0"/>
                    </a:p>
                  </a:txBody>
                  <a:tcPr marL="182880" marR="182880" marT="0" marB="0" anchor="ctr">
                    <a:lnL w="9525" cap="flat" cmpd="sng" algn="ctr">
                      <a:solidFill>
                        <a:srgbClr val="DCE6E0"/>
                      </a:solidFill>
                      <a:prstDash val="solid"/>
                      <a:round/>
                      <a:headEnd type="none" w="med" len="med"/>
                      <a:tailEnd type="none" w="med" len="med"/>
                    </a:lnL>
                    <a:lnR w="9525" cap="flat" cmpd="sng" algn="ctr">
                      <a:solidFill>
                        <a:srgbClr val="DCE6E0"/>
                      </a:solidFill>
                      <a:prstDash val="solid"/>
                      <a:round/>
                      <a:headEnd type="none" w="med" len="med"/>
                      <a:tailEnd type="none" w="med" len="med"/>
                    </a:lnR>
                    <a:lnT w="9525" cap="flat" cmpd="sng" algn="ctr">
                      <a:solidFill>
                        <a:srgbClr val="DCE6E0"/>
                      </a:solidFill>
                      <a:prstDash val="solid"/>
                      <a:round/>
                      <a:headEnd type="none" w="med" len="med"/>
                      <a:tailEnd type="none" w="med" len="med"/>
                    </a:lnT>
                    <a:lnB w="9525" cap="flat" cmpd="sng" algn="ctr">
                      <a:solidFill>
                        <a:srgbClr val="DCE6E0"/>
                      </a:solidFill>
                      <a:prstDash val="solid"/>
                      <a:round/>
                      <a:headEnd type="none" w="med" len="med"/>
                      <a:tailEnd type="none" w="med" len="med"/>
                    </a:lnB>
                    <a:solidFill>
                      <a:srgbClr val="EAF3EE"/>
                    </a:solidFill>
                  </a:tcPr>
                </a:tc>
              </a:tr>
              <a:tr h="731520">
                <a:tc>
                  <a:txBody>
                    <a:bodyPr/>
                    <a:lstStyle/>
                    <a:p>
                      <a:pPr indent="0" marL="0">
                        <a:buNone/>
                      </a:pPr>
                      <a:r>
                        <a:rPr lang="en-US" sz="1600" dirty="0">
                          <a:solidFill>
                            <a:srgbClr val="17231D"/>
                          </a:solidFill>
                        </a:rPr>
                        <a:t>Body measurements, drills, position</a:t>
                      </a:r>
                      <a:endParaRPr lang="en-US" sz="1600" dirty="0"/>
                    </a:p>
                  </a:txBody>
                  <a:tcPr marL="182880" marR="182880" marT="0" marB="0" anchor="ctr">
                    <a:lnL w="9525" cap="flat" cmpd="sng" algn="ctr">
                      <a:solidFill>
                        <a:srgbClr val="DCE6E0"/>
                      </a:solidFill>
                      <a:prstDash val="solid"/>
                      <a:round/>
                      <a:headEnd type="none" w="med" len="med"/>
                      <a:tailEnd type="none" w="med" len="med"/>
                    </a:lnL>
                    <a:lnR w="9525" cap="flat" cmpd="sng" algn="ctr">
                      <a:solidFill>
                        <a:srgbClr val="DCE6E0"/>
                      </a:solidFill>
                      <a:prstDash val="solid"/>
                      <a:round/>
                      <a:headEnd type="none" w="med" len="med"/>
                      <a:tailEnd type="none" w="med" len="med"/>
                    </a:lnR>
                    <a:lnT w="9525" cap="flat" cmpd="sng" algn="ctr">
                      <a:solidFill>
                        <a:srgbClr val="DCE6E0"/>
                      </a:solidFill>
                      <a:prstDash val="solid"/>
                      <a:round/>
                      <a:headEnd type="none" w="med" len="med"/>
                      <a:tailEnd type="none" w="med" len="med"/>
                    </a:lnT>
                    <a:lnB w="9525" cap="flat" cmpd="sng" algn="ctr">
                      <a:solidFill>
                        <a:srgbClr val="DCE6E0"/>
                      </a:solidFill>
                      <a:prstDash val="solid"/>
                      <a:round/>
                      <a:headEnd type="none" w="med" len="med"/>
                      <a:tailEnd type="none" w="med" len="med"/>
                    </a:lnB>
                    <a:solidFill>
                      <a:srgbClr val="FFFFFF"/>
                    </a:solidFill>
                  </a:tcPr>
                </a:tc>
                <a:tc>
                  <a:txBody>
                    <a:bodyPr/>
                    <a:lstStyle/>
                    <a:p>
                      <a:pPr algn="ctr" indent="0" marL="0">
                        <a:buNone/>
                      </a:pPr>
                      <a:r>
                        <a:rPr lang="en-US" sz="2400" b="1" dirty="0">
                          <a:solidFill>
                            <a:srgbClr val="2A7F62"/>
                          </a:solidFill>
                        </a:rPr>
                        <a:t>→</a:t>
                      </a:r>
                      <a:endParaRPr lang="en-US" sz="2400" dirty="0"/>
                    </a:p>
                  </a:txBody>
                  <a:tcPr marL="182880" marR="182880" marT="0" marB="0" anchor="ctr">
                    <a:lnL w="9525" cap="flat" cmpd="sng" algn="ctr">
                      <a:solidFill>
                        <a:srgbClr val="DCE6E0"/>
                      </a:solidFill>
                      <a:prstDash val="solid"/>
                      <a:round/>
                      <a:headEnd type="none" w="med" len="med"/>
                      <a:tailEnd type="none" w="med" len="med"/>
                    </a:lnL>
                    <a:lnR w="9525" cap="flat" cmpd="sng" algn="ctr">
                      <a:solidFill>
                        <a:srgbClr val="DCE6E0"/>
                      </a:solidFill>
                      <a:prstDash val="solid"/>
                      <a:round/>
                      <a:headEnd type="none" w="med" len="med"/>
                      <a:tailEnd type="none" w="med" len="med"/>
                    </a:lnR>
                    <a:lnT w="9525" cap="flat" cmpd="sng" algn="ctr">
                      <a:solidFill>
                        <a:srgbClr val="DCE6E0"/>
                      </a:solidFill>
                      <a:prstDash val="solid"/>
                      <a:round/>
                      <a:headEnd type="none" w="med" len="med"/>
                      <a:tailEnd type="none" w="med" len="med"/>
                    </a:lnT>
                    <a:lnB w="9525" cap="flat" cmpd="sng" algn="ctr">
                      <a:solidFill>
                        <a:srgbClr val="DCE6E0"/>
                      </a:solidFill>
                      <a:prstDash val="solid"/>
                      <a:round/>
                      <a:headEnd type="none" w="med" len="med"/>
                      <a:tailEnd type="none" w="med" len="med"/>
                    </a:lnB>
                    <a:solidFill>
                      <a:srgbClr val="FFFFFF"/>
                    </a:solidFill>
                  </a:tcPr>
                </a:tc>
                <a:tc>
                  <a:txBody>
                    <a:bodyPr/>
                    <a:lstStyle/>
                    <a:p>
                      <a:pPr indent="0" marL="0">
                        <a:buNone/>
                      </a:pPr>
                      <a:r>
                        <a:rPr lang="en-US" sz="1600" dirty="0">
                          <a:solidFill>
                            <a:srgbClr val="17231D"/>
                          </a:solidFill>
                        </a:rPr>
                        <a:t>Company size, industry, engagement</a:t>
                      </a:r>
                      <a:endParaRPr lang="en-US" sz="1600" dirty="0"/>
                    </a:p>
                  </a:txBody>
                  <a:tcPr marL="182880" marR="182880" marT="0" marB="0" anchor="ctr">
                    <a:lnL w="9525" cap="flat" cmpd="sng" algn="ctr">
                      <a:solidFill>
                        <a:srgbClr val="DCE6E0"/>
                      </a:solidFill>
                      <a:prstDash val="solid"/>
                      <a:round/>
                      <a:headEnd type="none" w="med" len="med"/>
                      <a:tailEnd type="none" w="med" len="med"/>
                    </a:lnL>
                    <a:lnR w="9525" cap="flat" cmpd="sng" algn="ctr">
                      <a:solidFill>
                        <a:srgbClr val="DCE6E0"/>
                      </a:solidFill>
                      <a:prstDash val="solid"/>
                      <a:round/>
                      <a:headEnd type="none" w="med" len="med"/>
                      <a:tailEnd type="none" w="med" len="med"/>
                    </a:lnR>
                    <a:lnT w="9525" cap="flat" cmpd="sng" algn="ctr">
                      <a:solidFill>
                        <a:srgbClr val="DCE6E0"/>
                      </a:solidFill>
                      <a:prstDash val="solid"/>
                      <a:round/>
                      <a:headEnd type="none" w="med" len="med"/>
                      <a:tailEnd type="none" w="med" len="med"/>
                    </a:lnT>
                    <a:lnB w="9525" cap="flat" cmpd="sng" algn="ctr">
                      <a:solidFill>
                        <a:srgbClr val="DCE6E0"/>
                      </a:solidFill>
                      <a:prstDash val="solid"/>
                      <a:round/>
                      <a:headEnd type="none" w="med" len="med"/>
                      <a:tailEnd type="none" w="med" len="med"/>
                    </a:lnB>
                    <a:solidFill>
                      <a:srgbClr val="FFFFFF"/>
                    </a:solidFill>
                  </a:tcPr>
                </a:tc>
              </a:tr>
              <a:tr h="731520">
                <a:tc>
                  <a:txBody>
                    <a:bodyPr/>
                    <a:lstStyle/>
                    <a:p>
                      <a:pPr indent="0" marL="0">
                        <a:buNone/>
                      </a:pPr>
                      <a:r>
                        <a:rPr lang="en-US" sz="1600" dirty="0">
                          <a:solidFill>
                            <a:srgbClr val="17231D"/>
                          </a:solidFill>
                        </a:rPr>
                        <a:t>Probability of being drafted</a:t>
                      </a:r>
                      <a:endParaRPr lang="en-US" sz="1600" dirty="0"/>
                    </a:p>
                  </a:txBody>
                  <a:tcPr marL="182880" marR="182880" marT="0" marB="0" anchor="ctr">
                    <a:lnL w="9525" cap="flat" cmpd="sng" algn="ctr">
                      <a:solidFill>
                        <a:srgbClr val="DCE6E0"/>
                      </a:solidFill>
                      <a:prstDash val="solid"/>
                      <a:round/>
                      <a:headEnd type="none" w="med" len="med"/>
                      <a:tailEnd type="none" w="med" len="med"/>
                    </a:lnL>
                    <a:lnR w="9525" cap="flat" cmpd="sng" algn="ctr">
                      <a:solidFill>
                        <a:srgbClr val="DCE6E0"/>
                      </a:solidFill>
                      <a:prstDash val="solid"/>
                      <a:round/>
                      <a:headEnd type="none" w="med" len="med"/>
                      <a:tailEnd type="none" w="med" len="med"/>
                    </a:lnR>
                    <a:lnT w="9525" cap="flat" cmpd="sng" algn="ctr">
                      <a:solidFill>
                        <a:srgbClr val="DCE6E0"/>
                      </a:solidFill>
                      <a:prstDash val="solid"/>
                      <a:round/>
                      <a:headEnd type="none" w="med" len="med"/>
                      <a:tailEnd type="none" w="med" len="med"/>
                    </a:lnT>
                    <a:lnB w="9525" cap="flat" cmpd="sng" algn="ctr">
                      <a:solidFill>
                        <a:srgbClr val="DCE6E0"/>
                      </a:solidFill>
                      <a:prstDash val="solid"/>
                      <a:round/>
                      <a:headEnd type="none" w="med" len="med"/>
                      <a:tailEnd type="none" w="med" len="med"/>
                    </a:lnB>
                    <a:solidFill>
                      <a:srgbClr val="EAF3EE"/>
                    </a:solidFill>
                  </a:tcPr>
                </a:tc>
                <a:tc>
                  <a:txBody>
                    <a:bodyPr/>
                    <a:lstStyle/>
                    <a:p>
                      <a:pPr algn="ctr" indent="0" marL="0">
                        <a:buNone/>
                      </a:pPr>
                      <a:r>
                        <a:rPr lang="en-US" sz="2400" b="1" dirty="0">
                          <a:solidFill>
                            <a:srgbClr val="2A7F62"/>
                          </a:solidFill>
                        </a:rPr>
                        <a:t>→</a:t>
                      </a:r>
                      <a:endParaRPr lang="en-US" sz="2400" dirty="0"/>
                    </a:p>
                  </a:txBody>
                  <a:tcPr marL="182880" marR="182880" marT="0" marB="0" anchor="ctr">
                    <a:lnL w="9525" cap="flat" cmpd="sng" algn="ctr">
                      <a:solidFill>
                        <a:srgbClr val="DCE6E0"/>
                      </a:solidFill>
                      <a:prstDash val="solid"/>
                      <a:round/>
                      <a:headEnd type="none" w="med" len="med"/>
                      <a:tailEnd type="none" w="med" len="med"/>
                    </a:lnL>
                    <a:lnR w="9525" cap="flat" cmpd="sng" algn="ctr">
                      <a:solidFill>
                        <a:srgbClr val="DCE6E0"/>
                      </a:solidFill>
                      <a:prstDash val="solid"/>
                      <a:round/>
                      <a:headEnd type="none" w="med" len="med"/>
                      <a:tailEnd type="none" w="med" len="med"/>
                    </a:lnR>
                    <a:lnT w="9525" cap="flat" cmpd="sng" algn="ctr">
                      <a:solidFill>
                        <a:srgbClr val="DCE6E0"/>
                      </a:solidFill>
                      <a:prstDash val="solid"/>
                      <a:round/>
                      <a:headEnd type="none" w="med" len="med"/>
                      <a:tailEnd type="none" w="med" len="med"/>
                    </a:lnT>
                    <a:lnB w="9525" cap="flat" cmpd="sng" algn="ctr">
                      <a:solidFill>
                        <a:srgbClr val="DCE6E0"/>
                      </a:solidFill>
                      <a:prstDash val="solid"/>
                      <a:round/>
                      <a:headEnd type="none" w="med" len="med"/>
                      <a:tailEnd type="none" w="med" len="med"/>
                    </a:lnB>
                    <a:solidFill>
                      <a:srgbClr val="EAF3EE"/>
                    </a:solidFill>
                  </a:tcPr>
                </a:tc>
                <a:tc>
                  <a:txBody>
                    <a:bodyPr/>
                    <a:lstStyle/>
                    <a:p>
                      <a:pPr indent="0" marL="0">
                        <a:buNone/>
                      </a:pPr>
                      <a:r>
                        <a:rPr lang="en-US" sz="1600" dirty="0">
                          <a:solidFill>
                            <a:srgbClr val="17231D"/>
                          </a:solidFill>
                        </a:rPr>
                        <a:t>A lead score</a:t>
                      </a:r>
                      <a:endParaRPr lang="en-US" sz="1600" dirty="0"/>
                    </a:p>
                  </a:txBody>
                  <a:tcPr marL="182880" marR="182880" marT="0" marB="0" anchor="ctr">
                    <a:lnL w="9525" cap="flat" cmpd="sng" algn="ctr">
                      <a:solidFill>
                        <a:srgbClr val="DCE6E0"/>
                      </a:solidFill>
                      <a:prstDash val="solid"/>
                      <a:round/>
                      <a:headEnd type="none" w="med" len="med"/>
                      <a:tailEnd type="none" w="med" len="med"/>
                    </a:lnL>
                    <a:lnR w="9525" cap="flat" cmpd="sng" algn="ctr">
                      <a:solidFill>
                        <a:srgbClr val="DCE6E0"/>
                      </a:solidFill>
                      <a:prstDash val="solid"/>
                      <a:round/>
                      <a:headEnd type="none" w="med" len="med"/>
                      <a:tailEnd type="none" w="med" len="med"/>
                    </a:lnR>
                    <a:lnT w="9525" cap="flat" cmpd="sng" algn="ctr">
                      <a:solidFill>
                        <a:srgbClr val="DCE6E0"/>
                      </a:solidFill>
                      <a:prstDash val="solid"/>
                      <a:round/>
                      <a:headEnd type="none" w="med" len="med"/>
                      <a:tailEnd type="none" w="med" len="med"/>
                    </a:lnT>
                    <a:lnB w="9525" cap="flat" cmpd="sng" algn="ctr">
                      <a:solidFill>
                        <a:srgbClr val="DCE6E0"/>
                      </a:solidFill>
                      <a:prstDash val="solid"/>
                      <a:round/>
                      <a:headEnd type="none" w="med" len="med"/>
                      <a:tailEnd type="none" w="med" len="med"/>
                    </a:lnB>
                    <a:solidFill>
                      <a:srgbClr val="EAF3EE"/>
                    </a:solidFill>
                  </a:tcPr>
                </a:tc>
              </a:tr>
              <a:tr h="914400">
                <a:tc>
                  <a:txBody>
                    <a:bodyPr/>
                    <a:lstStyle/>
                    <a:p>
                      <a:pPr indent="0" marL="0">
                        <a:buNone/>
                      </a:pPr>
                      <a:r>
                        <a:rPr lang="en-US" sz="1600" b="1" dirty="0">
                          <a:solidFill>
                            <a:srgbClr val="17231D"/>
                          </a:solidFill>
                        </a:rPr>
                        <a:t>A field recorded only after the draft</a:t>
                      </a:r>
                      <a:endParaRPr lang="en-US" sz="1600" dirty="0"/>
                    </a:p>
                  </a:txBody>
                  <a:tcPr marL="182880" marR="182880" marT="0" marB="0" anchor="ctr">
                    <a:lnL w="9525" cap="flat" cmpd="sng" algn="ctr">
                      <a:solidFill>
                        <a:srgbClr val="DCE6E0"/>
                      </a:solidFill>
                      <a:prstDash val="solid"/>
                      <a:round/>
                      <a:headEnd type="none" w="med" len="med"/>
                      <a:tailEnd type="none" w="med" len="med"/>
                    </a:lnL>
                    <a:lnR w="9525" cap="flat" cmpd="sng" algn="ctr">
                      <a:solidFill>
                        <a:srgbClr val="DCE6E0"/>
                      </a:solidFill>
                      <a:prstDash val="solid"/>
                      <a:round/>
                      <a:headEnd type="none" w="med" len="med"/>
                      <a:tailEnd type="none" w="med" len="med"/>
                    </a:lnR>
                    <a:lnT w="9525" cap="flat" cmpd="sng" algn="ctr">
                      <a:solidFill>
                        <a:srgbClr val="DCE6E0"/>
                      </a:solidFill>
                      <a:prstDash val="solid"/>
                      <a:round/>
                      <a:headEnd type="none" w="med" len="med"/>
                      <a:tailEnd type="none" w="med" len="med"/>
                    </a:lnT>
                    <a:lnB w="9525" cap="flat" cmpd="sng" algn="ctr">
                      <a:solidFill>
                        <a:srgbClr val="DCE6E0"/>
                      </a:solidFill>
                      <a:prstDash val="solid"/>
                      <a:round/>
                      <a:headEnd type="none" w="med" len="med"/>
                      <a:tailEnd type="none" w="med" len="med"/>
                    </a:lnB>
                    <a:solidFill>
                      <a:srgbClr val="F8E4DF"/>
                    </a:solidFill>
                  </a:tcPr>
                </a:tc>
                <a:tc>
                  <a:txBody>
                    <a:bodyPr/>
                    <a:lstStyle/>
                    <a:p>
                      <a:pPr algn="ctr" indent="0" marL="0">
                        <a:buNone/>
                      </a:pPr>
                      <a:r>
                        <a:rPr lang="en-US" sz="2400" b="1" dirty="0">
                          <a:solidFill>
                            <a:srgbClr val="2A7F62"/>
                          </a:solidFill>
                        </a:rPr>
                        <a:t>→</a:t>
                      </a:r>
                      <a:endParaRPr lang="en-US" sz="2400" dirty="0"/>
                    </a:p>
                  </a:txBody>
                  <a:tcPr marL="182880" marR="182880" marT="0" marB="0" anchor="ctr">
                    <a:lnL w="9525" cap="flat" cmpd="sng" algn="ctr">
                      <a:solidFill>
                        <a:srgbClr val="DCE6E0"/>
                      </a:solidFill>
                      <a:prstDash val="solid"/>
                      <a:round/>
                      <a:headEnd type="none" w="med" len="med"/>
                      <a:tailEnd type="none" w="med" len="med"/>
                    </a:lnL>
                    <a:lnR w="9525" cap="flat" cmpd="sng" algn="ctr">
                      <a:solidFill>
                        <a:srgbClr val="DCE6E0"/>
                      </a:solidFill>
                      <a:prstDash val="solid"/>
                      <a:round/>
                      <a:headEnd type="none" w="med" len="med"/>
                      <a:tailEnd type="none" w="med" len="med"/>
                    </a:lnR>
                    <a:lnT w="9525" cap="flat" cmpd="sng" algn="ctr">
                      <a:solidFill>
                        <a:srgbClr val="DCE6E0"/>
                      </a:solidFill>
                      <a:prstDash val="solid"/>
                      <a:round/>
                      <a:headEnd type="none" w="med" len="med"/>
                      <a:tailEnd type="none" w="med" len="med"/>
                    </a:lnT>
                    <a:lnB w="9525" cap="flat" cmpd="sng" algn="ctr">
                      <a:solidFill>
                        <a:srgbClr val="DCE6E0"/>
                      </a:solidFill>
                      <a:prstDash val="solid"/>
                      <a:round/>
                      <a:headEnd type="none" w="med" len="med"/>
                      <a:tailEnd type="none" w="med" len="med"/>
                    </a:lnB>
                    <a:solidFill>
                      <a:srgbClr val="F8E4DF"/>
                    </a:solidFill>
                  </a:tcPr>
                </a:tc>
                <a:tc>
                  <a:txBody>
                    <a:bodyPr/>
                    <a:lstStyle/>
                    <a:p>
                      <a:pPr indent="0" marL="0">
                        <a:buNone/>
                      </a:pPr>
                      <a:r>
                        <a:rPr lang="en-US" sz="1600" b="1" dirty="0">
                          <a:solidFill>
                            <a:srgbClr val="17231D"/>
                          </a:solidFill>
                        </a:rPr>
                        <a:t>A CRM field filled in only after the deal closes, such as the date a contract is sent</a:t>
                      </a:r>
                      <a:endParaRPr lang="en-US" sz="1600" dirty="0"/>
                    </a:p>
                  </a:txBody>
                  <a:tcPr marL="182880" marR="182880" marT="0" marB="0" anchor="ctr">
                    <a:lnL w="9525" cap="flat" cmpd="sng" algn="ctr">
                      <a:solidFill>
                        <a:srgbClr val="DCE6E0"/>
                      </a:solidFill>
                      <a:prstDash val="solid"/>
                      <a:round/>
                      <a:headEnd type="none" w="med" len="med"/>
                      <a:tailEnd type="none" w="med" len="med"/>
                    </a:lnL>
                    <a:lnR w="9525" cap="flat" cmpd="sng" algn="ctr">
                      <a:solidFill>
                        <a:srgbClr val="DCE6E0"/>
                      </a:solidFill>
                      <a:prstDash val="solid"/>
                      <a:round/>
                      <a:headEnd type="none" w="med" len="med"/>
                      <a:tailEnd type="none" w="med" len="med"/>
                    </a:lnR>
                    <a:lnT w="9525" cap="flat" cmpd="sng" algn="ctr">
                      <a:solidFill>
                        <a:srgbClr val="DCE6E0"/>
                      </a:solidFill>
                      <a:prstDash val="solid"/>
                      <a:round/>
                      <a:headEnd type="none" w="med" len="med"/>
                      <a:tailEnd type="none" w="med" len="med"/>
                    </a:lnT>
                    <a:lnB w="9525" cap="flat" cmpd="sng" algn="ctr">
                      <a:solidFill>
                        <a:srgbClr val="DCE6E0"/>
                      </a:solidFill>
                      <a:prstDash val="solid"/>
                      <a:round/>
                      <a:headEnd type="none" w="med" len="med"/>
                      <a:tailEnd type="none" w="med" len="med"/>
                    </a:lnB>
                    <a:solidFill>
                      <a:srgbClr val="F8E4DF"/>
                    </a:solidFill>
                  </a:tcPr>
                </a:tc>
              </a:tr>
            </a:tbl>
          </a:graphicData>
        </a:graphic>
      </p:graphicFrame>
      <p:sp>
        <p:nvSpPr>
          <p:cNvPr id="4" name="Table note"/>
          <p:cNvSpPr txBox="1"/>
          <p:nvPr/>
        </p:nvSpPr>
        <p:spPr>
          <a:xfrm>
            <a:off x="548640" y="5669280"/>
            <a:ext cx="11091672" cy="365760"/>
          </a:xfrm>
          <a:prstGeom prst="rect">
            <a:avLst/>
          </a:prstGeom>
          <a:noFill/>
          <a:ln/>
        </p:spPr>
        <p:txBody>
          <a:bodyPr wrap="square" lIns="0" tIns="0" rIns="0" bIns="0" rtlCol="0" anchor="ctr"/>
          <a:lstStyle/>
          <a:p>
            <a:pPr indent="0" marL="0">
              <a:buNone/>
            </a:pPr>
            <a:r>
              <a:rPr lang="en-US" sz="1400" i="1" dirty="0">
                <a:solidFill>
                  <a:schemeClr val="accent4"/>
                </a:solidFill>
              </a:rPr>
              <a:t>The last row is the trap we hit in this project (slide 6).</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188720"/>
          </a:xfrm>
          <a:prstGeom prst="rect">
            <a:avLst/>
          </a:prstGeom>
          <a:noFill/>
          <a:ln/>
        </p:spPr>
        <p:txBody>
          <a:bodyPr wrap="square" lIns="0" tIns="0" rIns="0" bIns="0" rtlCol="0" anchor="ctr"/>
          <a:lstStyle/>
          <a:p>
            <a:pPr algn="l" indent="0" marL="0">
              <a:buNone/>
            </a:pPr>
            <a:r>
              <a:rPr lang="en-US" sz="3600" b="1" dirty="0">
                <a:solidFill>
                  <a:schemeClr val="tx2"/>
                </a:solidFill>
              </a:rPr>
              <a:t>The top-scored 20% were drafted ~90% of the time</a:t>
            </a:r>
            <a:endParaRPr lang="en-US" sz="3600" dirty="0"/>
          </a:p>
        </p:txBody>
      </p:sp>
      <p:graphicFrame>
        <p:nvGraphicFramePr>
          <p:cNvPr id="3" name="Draft rate by score group" descr=""/>
          <p:cNvGraphicFramePr/>
          <p:nvPr/>
        </p:nvGraphicFramePr>
        <p:xfrm>
          <a:off x="548640" y="1691640"/>
          <a:ext cx="6949440" cy="4526280"/>
        </p:xfrm>
        <a:graphic xmlns:a="http://schemas.openxmlformats.org/drawingml/2006/main">
          <a:graphicData uri="http://schemas.openxmlformats.org/drawingml/2006/chart">
            <c:chart xmlns:c="http://schemas.openxmlformats.org/drawingml/2006/chart" r:id="rId1"/>
          </a:graphicData>
        </a:graphic>
      </p:graphicFrame>
      <p:sp>
        <p:nvSpPr>
          <p:cNvPr id="4" name="Takeaway card"/>
          <p:cNvSpPr/>
          <p:nvPr/>
        </p:nvSpPr>
        <p:spPr>
          <a:xfrm>
            <a:off x="7863840" y="1737360"/>
            <a:ext cx="3776472" cy="4480560"/>
          </a:xfrm>
          <a:prstGeom prst="roundRect">
            <a:avLst>
              <a:gd name="adj" fmla="val 2906"/>
            </a:avLst>
          </a:prstGeom>
          <a:solidFill>
            <a:schemeClr val="bg2"/>
          </a:solidFill>
          <a:ln w="12700">
            <a:solidFill>
              <a:schemeClr val="bg2"/>
            </a:solidFill>
            <a:prstDash val="solid"/>
          </a:ln>
        </p:spPr>
      </p:sp>
      <p:sp>
        <p:nvSpPr>
          <p:cNvPr id="5" name="Big number"/>
          <p:cNvSpPr txBox="1"/>
          <p:nvPr/>
        </p:nvSpPr>
        <p:spPr>
          <a:xfrm>
            <a:off x="8138160" y="1874520"/>
            <a:ext cx="3200400" cy="1005840"/>
          </a:xfrm>
          <a:prstGeom prst="rect">
            <a:avLst/>
          </a:prstGeom>
          <a:noFill/>
          <a:ln/>
        </p:spPr>
        <p:txBody>
          <a:bodyPr wrap="square" lIns="0" tIns="0" rIns="0" bIns="0" rtlCol="0" anchor="ctr"/>
          <a:lstStyle/>
          <a:p>
            <a:pPr indent="0" marL="0">
              <a:buNone/>
            </a:pPr>
            <a:r>
              <a:rPr lang="en-US" sz="6600" b="1" dirty="0">
                <a:solidFill>
                  <a:schemeClr val="accent1"/>
                </a:solidFill>
                <a:latin typeface="+mj-lt" pitchFamily="34" charset="0"/>
                <a:ea typeface="+mj-lt" pitchFamily="34" charset="-122"/>
                <a:cs typeface="+mj-lt" pitchFamily="34" charset="-120"/>
              </a:rPr>
              <a:t>~3x</a:t>
            </a:r>
            <a:endParaRPr lang="en-US" sz="6600" dirty="0"/>
          </a:p>
        </p:txBody>
      </p:sp>
      <p:sp>
        <p:nvSpPr>
          <p:cNvPr id="6" name="Takeaway"/>
          <p:cNvSpPr txBox="1"/>
          <p:nvPr/>
        </p:nvSpPr>
        <p:spPr>
          <a:xfrm>
            <a:off x="8138160" y="2971800"/>
            <a:ext cx="3246120" cy="1188720"/>
          </a:xfrm>
          <a:prstGeom prst="rect">
            <a:avLst/>
          </a:prstGeom>
          <a:noFill/>
          <a:ln/>
        </p:spPr>
        <p:txBody>
          <a:bodyPr wrap="square" lIns="0" tIns="0" rIns="0" bIns="0" rtlCol="0" anchor="t"/>
          <a:lstStyle/>
          <a:p>
            <a:pPr indent="0" marL="0">
              <a:buNone/>
            </a:pPr>
            <a:r>
              <a:rPr lang="en-US" sz="1600" b="1" dirty="0">
                <a:solidFill>
                  <a:schemeClr val="tx2"/>
                </a:solidFill>
              </a:rPr>
              <a:t>The top-scored 20% were drafted about 3 times as often as the bottom 20% (90% vs 32%).</a:t>
            </a:r>
            <a:endParaRPr lang="en-US" sz="1600" dirty="0"/>
          </a:p>
        </p:txBody>
      </p:sp>
      <p:sp>
        <p:nvSpPr>
          <p:cNvPr id="7" name="Context"/>
          <p:cNvSpPr txBox="1"/>
          <p:nvPr/>
        </p:nvSpPr>
        <p:spPr>
          <a:xfrm>
            <a:off x="8138160" y="4251960"/>
            <a:ext cx="3246120" cy="1783080"/>
          </a:xfrm>
          <a:prstGeom prst="rect">
            <a:avLst/>
          </a:prstGeom>
          <a:noFill/>
          <a:ln/>
        </p:spPr>
        <p:txBody>
          <a:bodyPr wrap="square" lIns="0" tIns="0" rIns="0" bIns="0" rtlCol="0" anchor="t"/>
          <a:lstStyle/>
          <a:p>
            <a:pPr indent="0" marL="0">
              <a:buNone/>
            </a:pPr>
            <a:r>
              <a:rPr lang="en-US" sz="1400" dirty="0">
                <a:solidFill>
                  <a:schemeClr val="accent4"/>
                </a:solidFill>
              </a:rPr>
              <a:t>Average across all players: 65%. With a base rate this high, the top group's lift is capped near 1.5x. Where fewer leads convert, ranking has more room to help.</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188720"/>
          </a:xfrm>
          <a:prstGeom prst="rect">
            <a:avLst/>
          </a:prstGeom>
          <a:noFill/>
          <a:ln/>
        </p:spPr>
        <p:txBody>
          <a:bodyPr wrap="square" lIns="0" tIns="0" rIns="0" bIns="0" rtlCol="0" anchor="ctr"/>
          <a:lstStyle/>
          <a:p>
            <a:pPr algn="l" indent="0" marL="0">
              <a:buNone/>
            </a:pPr>
            <a:r>
              <a:rPr lang="en-US" sz="3600" b="1" dirty="0">
                <a:solidFill>
                  <a:schemeClr val="tx2"/>
                </a:solidFill>
              </a:rPr>
              <a:t>Our first model leaned on a data shortcut</a:t>
            </a:r>
            <a:endParaRPr lang="en-US" sz="3600" dirty="0"/>
          </a:p>
        </p:txBody>
      </p:sp>
      <p:graphicFrame>
        <p:nvGraphicFramePr>
          <p:cNvPr id="3" name="Missing age by outcome" descr=""/>
          <p:cNvGraphicFramePr/>
          <p:nvPr/>
        </p:nvGraphicFramePr>
        <p:xfrm>
          <a:off x="548640" y="1737360"/>
          <a:ext cx="5120640" cy="3337560"/>
        </p:xfrm>
        <a:graphic xmlns:a="http://schemas.openxmlformats.org/drawingml/2006/main">
          <a:graphicData uri="http://schemas.openxmlformats.org/drawingml/2006/chart">
            <c:chart xmlns:c="http://schemas.openxmlformats.org/drawingml/2006/chart" r:id="rId1"/>
          </a:graphicData>
        </a:graphic>
      </p:graphicFrame>
      <p:sp>
        <p:nvSpPr>
          <p:cNvPr id="4" name="Explanation"/>
          <p:cNvSpPr txBox="1"/>
          <p:nvPr/>
        </p:nvSpPr>
        <p:spPr>
          <a:xfrm>
            <a:off x="6035040" y="1737360"/>
            <a:ext cx="5605272" cy="1783080"/>
          </a:xfrm>
          <a:prstGeom prst="rect">
            <a:avLst/>
          </a:prstGeom>
          <a:noFill/>
          <a:ln/>
        </p:spPr>
        <p:txBody>
          <a:bodyPr wrap="square" lIns="0" tIns="0" rIns="0" bIns="0" rtlCol="0" anchor="t"/>
          <a:lstStyle/>
          <a:p>
            <a:pPr indent="0" marL="0">
              <a:buNone/>
            </a:pPr>
            <a:r>
              <a:rPr lang="en-US" sz="1600" dirty="0">
                <a:solidFill>
                  <a:schemeClr val="tx1"/>
                </a:solidFill>
              </a:rPr>
              <a:t>Age was recorded for almost every drafted player but for only 56% of the undrafted ones. So “age missing” hints at the answer, and that clue would not exist before a real decision. It is like predicting who passed an exam because a grade was left blank.</a:t>
            </a:r>
            <a:endParaRPr lang="en-US" sz="1600" dirty="0"/>
          </a:p>
        </p:txBody>
      </p:sp>
      <p:sp>
        <p:nvSpPr>
          <p:cNvPr id="5" name="Chip with shortcut"/>
          <p:cNvSpPr/>
          <p:nvPr/>
        </p:nvSpPr>
        <p:spPr>
          <a:xfrm>
            <a:off x="6035040" y="3474720"/>
            <a:ext cx="2697480" cy="1600200"/>
          </a:xfrm>
          <a:prstGeom prst="roundRect">
            <a:avLst>
              <a:gd name="adj" fmla="val 6857"/>
            </a:avLst>
          </a:prstGeom>
          <a:solidFill>
            <a:schemeClr val="bg2"/>
          </a:solidFill>
          <a:ln w="12700">
            <a:solidFill>
              <a:schemeClr val="bg2"/>
            </a:solidFill>
            <a:prstDash val="solid"/>
          </a:ln>
        </p:spPr>
      </p:sp>
      <p:sp>
        <p:nvSpPr>
          <p:cNvPr id="6" name="With shortcut"/>
          <p:cNvSpPr txBox="1"/>
          <p:nvPr/>
        </p:nvSpPr>
        <p:spPr>
          <a:xfrm>
            <a:off x="6309360" y="3566160"/>
            <a:ext cx="2194560" cy="777240"/>
          </a:xfrm>
          <a:prstGeom prst="rect">
            <a:avLst/>
          </a:prstGeom>
          <a:noFill/>
          <a:ln/>
        </p:spPr>
        <p:txBody>
          <a:bodyPr wrap="square" lIns="0" tIns="0" rIns="0" bIns="0" rtlCol="0" anchor="ctr"/>
          <a:lstStyle/>
          <a:p>
            <a:pPr indent="0" marL="0">
              <a:buNone/>
            </a:pPr>
            <a:r>
              <a:rPr lang="en-US" sz="4400" b="1" dirty="0">
                <a:solidFill>
                  <a:schemeClr val="accent2"/>
                </a:solidFill>
                <a:latin typeface="+mj-lt" pitchFamily="34" charset="0"/>
                <a:ea typeface="+mj-lt" pitchFamily="34" charset="-122"/>
                <a:cs typeface="+mj-lt" pitchFamily="34" charset="-120"/>
              </a:rPr>
              <a:t>84%</a:t>
            </a:r>
            <a:endParaRPr lang="en-US" sz="4400" dirty="0"/>
          </a:p>
        </p:txBody>
      </p:sp>
      <p:sp>
        <p:nvSpPr>
          <p:cNvPr id="7" name="With shortcut label"/>
          <p:cNvSpPr txBox="1"/>
          <p:nvPr/>
        </p:nvSpPr>
        <p:spPr>
          <a:xfrm>
            <a:off x="6309360" y="4343400"/>
            <a:ext cx="2194560" cy="548640"/>
          </a:xfrm>
          <a:prstGeom prst="rect">
            <a:avLst/>
          </a:prstGeom>
          <a:noFill/>
          <a:ln/>
        </p:spPr>
        <p:txBody>
          <a:bodyPr wrap="square" lIns="0" tIns="0" rIns="0" bIns="0" rtlCol="0" anchor="t"/>
          <a:lstStyle/>
          <a:p>
            <a:pPr indent="0" marL="0">
              <a:buNone/>
            </a:pPr>
            <a:r>
              <a:rPr lang="en-US" sz="1400" dirty="0">
                <a:solidFill>
                  <a:schemeClr val="tx1"/>
                </a:solidFill>
              </a:rPr>
              <a:t>score with the shortcut (inflated)</a:t>
            </a:r>
            <a:endParaRPr lang="en-US" sz="1400" dirty="0"/>
          </a:p>
        </p:txBody>
      </p:sp>
      <p:sp>
        <p:nvSpPr>
          <p:cNvPr id="8" name="Chip without shortcut"/>
          <p:cNvSpPr/>
          <p:nvPr/>
        </p:nvSpPr>
        <p:spPr>
          <a:xfrm>
            <a:off x="8942832" y="3474720"/>
            <a:ext cx="2697480" cy="1600200"/>
          </a:xfrm>
          <a:prstGeom prst="roundRect">
            <a:avLst>
              <a:gd name="adj" fmla="val 6857"/>
            </a:avLst>
          </a:prstGeom>
          <a:solidFill>
            <a:schemeClr val="accent1"/>
          </a:solidFill>
          <a:ln w="12700">
            <a:solidFill>
              <a:schemeClr val="accent1"/>
            </a:solidFill>
            <a:prstDash val="solid"/>
          </a:ln>
        </p:spPr>
      </p:sp>
      <p:sp>
        <p:nvSpPr>
          <p:cNvPr id="9" name="Without shortcut"/>
          <p:cNvSpPr txBox="1"/>
          <p:nvPr/>
        </p:nvSpPr>
        <p:spPr>
          <a:xfrm>
            <a:off x="9217152" y="3566160"/>
            <a:ext cx="2194560" cy="777240"/>
          </a:xfrm>
          <a:prstGeom prst="rect">
            <a:avLst/>
          </a:prstGeom>
          <a:noFill/>
          <a:ln/>
        </p:spPr>
        <p:txBody>
          <a:bodyPr wrap="square" lIns="0" tIns="0" rIns="0" bIns="0" rtlCol="0" anchor="ctr"/>
          <a:lstStyle/>
          <a:p>
            <a:pPr indent="0" marL="0">
              <a:buNone/>
            </a:pPr>
            <a:r>
              <a:rPr lang="en-US" sz="4400" b="1" dirty="0">
                <a:solidFill>
                  <a:schemeClr val="bg1"/>
                </a:solidFill>
                <a:latin typeface="+mj-lt" pitchFamily="34" charset="0"/>
                <a:ea typeface="+mj-lt" pitchFamily="34" charset="-122"/>
                <a:cs typeface="+mj-lt" pitchFamily="34" charset="-120"/>
              </a:rPr>
              <a:t>76%</a:t>
            </a:r>
            <a:endParaRPr lang="en-US" sz="4400" dirty="0"/>
          </a:p>
        </p:txBody>
      </p:sp>
      <p:sp>
        <p:nvSpPr>
          <p:cNvPr id="10" name="Without shortcut label"/>
          <p:cNvSpPr txBox="1"/>
          <p:nvPr/>
        </p:nvSpPr>
        <p:spPr>
          <a:xfrm>
            <a:off x="9217152" y="4343400"/>
            <a:ext cx="2194560" cy="548640"/>
          </a:xfrm>
          <a:prstGeom prst="rect">
            <a:avLst/>
          </a:prstGeom>
          <a:noFill/>
          <a:ln/>
        </p:spPr>
        <p:txBody>
          <a:bodyPr wrap="square" lIns="0" tIns="0" rIns="0" bIns="0" rtlCol="0" anchor="t"/>
          <a:lstStyle/>
          <a:p>
            <a:pPr indent="0" marL="0">
              <a:buNone/>
            </a:pPr>
            <a:r>
              <a:rPr lang="en-US" sz="1400" dirty="0">
                <a:solidFill>
                  <a:schemeClr val="bg1"/>
                </a:solidFill>
              </a:rPr>
              <a:t>score without it (honest estimate)</a:t>
            </a:r>
            <a:endParaRPr lang="en-US" sz="1400" dirty="0"/>
          </a:p>
        </p:txBody>
      </p:sp>
      <p:sp>
        <p:nvSpPr>
          <p:cNvPr id="11" name="Shortcut banner card"/>
          <p:cNvSpPr/>
          <p:nvPr/>
        </p:nvSpPr>
        <p:spPr>
          <a:xfrm>
            <a:off x="548640" y="5532120"/>
            <a:ext cx="11091672" cy="685800"/>
          </a:xfrm>
          <a:prstGeom prst="roundRect">
            <a:avLst>
              <a:gd name="adj" fmla="val 16000"/>
            </a:avLst>
          </a:prstGeom>
          <a:solidFill>
            <a:schemeClr val="tx2"/>
          </a:solidFill>
          <a:ln w="12700">
            <a:solidFill>
              <a:schemeClr val="tx2"/>
            </a:solidFill>
            <a:prstDash val="solid"/>
          </a:ln>
        </p:spPr>
      </p:sp>
      <p:sp>
        <p:nvSpPr>
          <p:cNvPr id="12" name="Shortcut banner"/>
          <p:cNvSpPr txBox="1"/>
          <p:nvPr/>
        </p:nvSpPr>
        <p:spPr>
          <a:xfrm>
            <a:off x="822960" y="5532120"/>
            <a:ext cx="10543032" cy="685800"/>
          </a:xfrm>
          <a:prstGeom prst="rect">
            <a:avLst/>
          </a:prstGeom>
          <a:noFill/>
          <a:ln/>
        </p:spPr>
        <p:txBody>
          <a:bodyPr wrap="square" lIns="0" tIns="0" rIns="0" bIns="0" rtlCol="0" anchor="ctr"/>
          <a:lstStyle/>
          <a:p>
            <a:pPr indent="0" marL="0">
              <a:buNone/>
            </a:pPr>
            <a:r>
              <a:rPr lang="en-US" sz="1800" b="1" dirty="0">
                <a:solidFill>
                  <a:schemeClr val="bg1"/>
                </a:solidFill>
              </a:rPr>
              <a:t>We removed the shortcut and report 76% as the real performance.</a:t>
            </a:r>
            <a:endParaRPr lang="en-US" sz="18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188720"/>
          </a:xfrm>
          <a:prstGeom prst="rect">
            <a:avLst/>
          </a:prstGeom>
          <a:noFill/>
          <a:ln/>
        </p:spPr>
        <p:txBody>
          <a:bodyPr wrap="square" lIns="0" tIns="0" rIns="0" bIns="0" rtlCol="0" anchor="ctr"/>
          <a:lstStyle/>
          <a:p>
            <a:pPr algn="l" indent="0" marL="0">
              <a:buNone/>
            </a:pPr>
            <a:r>
              <a:rPr lang="en-US" sz="3600" b="1" dirty="0">
                <a:solidFill>
                  <a:schemeClr val="tx2"/>
                </a:solidFill>
              </a:rPr>
              <a:t>The drivers are simple and explainable</a:t>
            </a:r>
            <a:endParaRPr lang="en-US" sz="3600" dirty="0"/>
          </a:p>
        </p:txBody>
      </p:sp>
      <p:sp>
        <p:nvSpPr>
          <p:cNvPr id="3" name="Driver card 1"/>
          <p:cNvSpPr/>
          <p:nvPr/>
        </p:nvSpPr>
        <p:spPr>
          <a:xfrm>
            <a:off x="548640" y="1691640"/>
            <a:ext cx="5394960" cy="1737360"/>
          </a:xfrm>
          <a:prstGeom prst="roundRect">
            <a:avLst>
              <a:gd name="adj" fmla="val 6316"/>
            </a:avLst>
          </a:prstGeom>
          <a:solidFill>
            <a:schemeClr val="bg2"/>
          </a:solidFill>
          <a:ln w="12700">
            <a:solidFill>
              <a:schemeClr val="bg2"/>
            </a:solidFill>
            <a:prstDash val="solid"/>
          </a:ln>
        </p:spPr>
      </p:sp>
      <p:sp>
        <p:nvSpPr>
          <p:cNvPr id="4" name="Driver 1 circle"/>
          <p:cNvSpPr/>
          <p:nvPr/>
        </p:nvSpPr>
        <p:spPr>
          <a:xfrm>
            <a:off x="822960" y="1965960"/>
            <a:ext cx="685800" cy="685800"/>
          </a:xfrm>
          <a:prstGeom prst="ellipse">
            <a:avLst/>
          </a:prstGeom>
          <a:solidFill>
            <a:schemeClr val="accent1"/>
          </a:solidFill>
          <a:ln w="12700">
            <a:solidFill>
              <a:schemeClr val="accent1"/>
            </a:solidFill>
            <a:prstDash val="solid"/>
          </a:ln>
        </p:spPr>
      </p:sp>
      <p:pic>
        <p:nvPicPr>
          <p:cNvPr id="5" name="Driver 1 icon" descr="preencoded.png">    </p:cNvPr>
          <p:cNvPicPr>
            <a:picLocks noChangeAspect="1"/>
          </p:cNvPicPr>
          <p:nvPr/>
        </p:nvPicPr>
        <p:blipFill>
          <a:blip r:embed="rId1"/>
          <a:stretch>
            <a:fillRect/>
          </a:stretch>
        </p:blipFill>
        <p:spPr>
          <a:xfrm>
            <a:off x="994410" y="2137410"/>
            <a:ext cx="342900" cy="342900"/>
          </a:xfrm>
          <a:prstGeom prst="rect">
            <a:avLst/>
          </a:prstGeom>
        </p:spPr>
      </p:pic>
      <p:sp>
        <p:nvSpPr>
          <p:cNvPr id="6" name="Driver header 1"/>
          <p:cNvSpPr txBox="1"/>
          <p:nvPr/>
        </p:nvSpPr>
        <p:spPr>
          <a:xfrm>
            <a:off x="1737360" y="1920240"/>
            <a:ext cx="3977640" cy="365760"/>
          </a:xfrm>
          <a:prstGeom prst="rect">
            <a:avLst/>
          </a:prstGeom>
          <a:noFill/>
          <a:ln/>
        </p:spPr>
        <p:txBody>
          <a:bodyPr wrap="square" lIns="0" tIns="0" rIns="0" bIns="0" rtlCol="0" anchor="ctr"/>
          <a:lstStyle/>
          <a:p>
            <a:pPr indent="0" marL="0">
              <a:buNone/>
            </a:pPr>
            <a:r>
              <a:rPr lang="en-US" sz="2000" b="1" dirty="0">
                <a:solidFill>
                  <a:schemeClr val="tx2"/>
                </a:solidFill>
              </a:rPr>
              <a:t>Age</a:t>
            </a:r>
            <a:endParaRPr lang="en-US" sz="2000" dirty="0"/>
          </a:p>
        </p:txBody>
      </p:sp>
      <p:sp>
        <p:nvSpPr>
          <p:cNvPr id="7" name="Driver body 1"/>
          <p:cNvSpPr txBox="1"/>
          <p:nvPr/>
        </p:nvSpPr>
        <p:spPr>
          <a:xfrm>
            <a:off x="1737360" y="2350008"/>
            <a:ext cx="3977640" cy="1005840"/>
          </a:xfrm>
          <a:prstGeom prst="rect">
            <a:avLst/>
          </a:prstGeom>
          <a:noFill/>
          <a:ln/>
        </p:spPr>
        <p:txBody>
          <a:bodyPr wrap="square" lIns="0" tIns="0" rIns="0" bIns="0" rtlCol="0" anchor="t"/>
          <a:lstStyle/>
          <a:p>
            <a:pPr indent="0" marL="0">
              <a:buNone/>
            </a:pPr>
            <a:r>
              <a:rPr lang="en-US" sz="1600" dirty="0">
                <a:solidFill>
                  <a:schemeClr val="tx1"/>
                </a:solidFill>
              </a:rPr>
              <a:t>Younger players are drafted more often: 93% at age 20, falling to 69% at age 23.</a:t>
            </a:r>
            <a:endParaRPr lang="en-US" sz="1600" dirty="0"/>
          </a:p>
        </p:txBody>
      </p:sp>
      <p:sp>
        <p:nvSpPr>
          <p:cNvPr id="8" name="Driver card 2"/>
          <p:cNvSpPr/>
          <p:nvPr/>
        </p:nvSpPr>
        <p:spPr>
          <a:xfrm>
            <a:off x="6245352" y="1691640"/>
            <a:ext cx="5394960" cy="1737360"/>
          </a:xfrm>
          <a:prstGeom prst="roundRect">
            <a:avLst>
              <a:gd name="adj" fmla="val 6316"/>
            </a:avLst>
          </a:prstGeom>
          <a:solidFill>
            <a:schemeClr val="bg2"/>
          </a:solidFill>
          <a:ln w="12700">
            <a:solidFill>
              <a:schemeClr val="bg2"/>
            </a:solidFill>
            <a:prstDash val="solid"/>
          </a:ln>
        </p:spPr>
      </p:sp>
      <p:sp>
        <p:nvSpPr>
          <p:cNvPr id="9" name="Driver 2 circle"/>
          <p:cNvSpPr/>
          <p:nvPr/>
        </p:nvSpPr>
        <p:spPr>
          <a:xfrm>
            <a:off x="6519672" y="1965960"/>
            <a:ext cx="685800" cy="685800"/>
          </a:xfrm>
          <a:prstGeom prst="ellipse">
            <a:avLst/>
          </a:prstGeom>
          <a:solidFill>
            <a:schemeClr val="accent1"/>
          </a:solidFill>
          <a:ln w="12700">
            <a:solidFill>
              <a:schemeClr val="accent1"/>
            </a:solidFill>
            <a:prstDash val="solid"/>
          </a:ln>
        </p:spPr>
      </p:sp>
      <p:pic>
        <p:nvPicPr>
          <p:cNvPr id="10" name="Driver 2 icon" descr="preencoded.png">    </p:cNvPr>
          <p:cNvPicPr>
            <a:picLocks noChangeAspect="1"/>
          </p:cNvPicPr>
          <p:nvPr/>
        </p:nvPicPr>
        <p:blipFill>
          <a:blip r:embed="rId2"/>
          <a:stretch>
            <a:fillRect/>
          </a:stretch>
        </p:blipFill>
        <p:spPr>
          <a:xfrm>
            <a:off x="6691122" y="2137410"/>
            <a:ext cx="342900" cy="342900"/>
          </a:xfrm>
          <a:prstGeom prst="rect">
            <a:avLst/>
          </a:prstGeom>
        </p:spPr>
      </p:pic>
      <p:sp>
        <p:nvSpPr>
          <p:cNvPr id="11" name="Driver header 2"/>
          <p:cNvSpPr txBox="1"/>
          <p:nvPr/>
        </p:nvSpPr>
        <p:spPr>
          <a:xfrm>
            <a:off x="7434072" y="1920240"/>
            <a:ext cx="3977640" cy="365760"/>
          </a:xfrm>
          <a:prstGeom prst="rect">
            <a:avLst/>
          </a:prstGeom>
          <a:noFill/>
          <a:ln/>
        </p:spPr>
        <p:txBody>
          <a:bodyPr wrap="square" lIns="0" tIns="0" rIns="0" bIns="0" rtlCol="0" anchor="ctr"/>
          <a:lstStyle/>
          <a:p>
            <a:pPr indent="0" marL="0">
              <a:buNone/>
            </a:pPr>
            <a:r>
              <a:rPr lang="en-US" sz="2000" b="1" dirty="0">
                <a:solidFill>
                  <a:schemeClr val="tx2"/>
                </a:solidFill>
              </a:rPr>
              <a:t>Speed for the position</a:t>
            </a:r>
            <a:endParaRPr lang="en-US" sz="2000" dirty="0"/>
          </a:p>
        </p:txBody>
      </p:sp>
      <p:sp>
        <p:nvSpPr>
          <p:cNvPr id="12" name="Driver body 2"/>
          <p:cNvSpPr txBox="1"/>
          <p:nvPr/>
        </p:nvSpPr>
        <p:spPr>
          <a:xfrm>
            <a:off x="7434072" y="2350008"/>
            <a:ext cx="3977640" cy="1005840"/>
          </a:xfrm>
          <a:prstGeom prst="rect">
            <a:avLst/>
          </a:prstGeom>
          <a:noFill/>
          <a:ln/>
        </p:spPr>
        <p:txBody>
          <a:bodyPr wrap="square" lIns="0" tIns="0" rIns="0" bIns="0" rtlCol="0" anchor="t"/>
          <a:lstStyle/>
          <a:p>
            <a:pPr indent="0" marL="0">
              <a:buNone/>
            </a:pPr>
            <a:r>
              <a:rPr lang="en-US" sz="1600" dirty="0">
                <a:solidFill>
                  <a:schemeClr val="tx1"/>
                </a:solidFill>
              </a:rPr>
              <a:t>A fast 40-yard dash counts most when compared with other players at the same position.</a:t>
            </a:r>
            <a:endParaRPr lang="en-US" sz="1600" dirty="0"/>
          </a:p>
        </p:txBody>
      </p:sp>
      <p:sp>
        <p:nvSpPr>
          <p:cNvPr id="13" name="Driver card 3"/>
          <p:cNvSpPr/>
          <p:nvPr/>
        </p:nvSpPr>
        <p:spPr>
          <a:xfrm>
            <a:off x="548640" y="3611880"/>
            <a:ext cx="5394960" cy="1737360"/>
          </a:xfrm>
          <a:prstGeom prst="roundRect">
            <a:avLst>
              <a:gd name="adj" fmla="val 6316"/>
            </a:avLst>
          </a:prstGeom>
          <a:solidFill>
            <a:schemeClr val="bg2"/>
          </a:solidFill>
          <a:ln w="12700">
            <a:solidFill>
              <a:schemeClr val="bg2"/>
            </a:solidFill>
            <a:prstDash val="solid"/>
          </a:ln>
        </p:spPr>
      </p:sp>
      <p:sp>
        <p:nvSpPr>
          <p:cNvPr id="14" name="Driver 3 circle"/>
          <p:cNvSpPr/>
          <p:nvPr/>
        </p:nvSpPr>
        <p:spPr>
          <a:xfrm>
            <a:off x="822960" y="3886200"/>
            <a:ext cx="685800" cy="685800"/>
          </a:xfrm>
          <a:prstGeom prst="ellipse">
            <a:avLst/>
          </a:prstGeom>
          <a:solidFill>
            <a:schemeClr val="accent1"/>
          </a:solidFill>
          <a:ln w="12700">
            <a:solidFill>
              <a:schemeClr val="accent1"/>
            </a:solidFill>
            <a:prstDash val="solid"/>
          </a:ln>
        </p:spPr>
      </p:sp>
      <p:pic>
        <p:nvPicPr>
          <p:cNvPr id="15" name="Driver 3 icon" descr="preencoded.png">    </p:cNvPr>
          <p:cNvPicPr>
            <a:picLocks noChangeAspect="1"/>
          </p:cNvPicPr>
          <p:nvPr/>
        </p:nvPicPr>
        <p:blipFill>
          <a:blip r:embed="rId3"/>
          <a:stretch>
            <a:fillRect/>
          </a:stretch>
        </p:blipFill>
        <p:spPr>
          <a:xfrm>
            <a:off x="994410" y="4057650"/>
            <a:ext cx="342900" cy="342900"/>
          </a:xfrm>
          <a:prstGeom prst="rect">
            <a:avLst/>
          </a:prstGeom>
        </p:spPr>
      </p:pic>
      <p:sp>
        <p:nvSpPr>
          <p:cNvPr id="16" name="Driver header 3"/>
          <p:cNvSpPr txBox="1"/>
          <p:nvPr/>
        </p:nvSpPr>
        <p:spPr>
          <a:xfrm>
            <a:off x="1737360" y="3840480"/>
            <a:ext cx="3977640" cy="365760"/>
          </a:xfrm>
          <a:prstGeom prst="rect">
            <a:avLst/>
          </a:prstGeom>
          <a:noFill/>
          <a:ln/>
        </p:spPr>
        <p:txBody>
          <a:bodyPr wrap="square" lIns="0" tIns="0" rIns="0" bIns="0" rtlCol="0" anchor="ctr"/>
          <a:lstStyle/>
          <a:p>
            <a:pPr indent="0" marL="0">
              <a:buNone/>
            </a:pPr>
            <a:r>
              <a:rPr lang="en-US" sz="2000" b="1" dirty="0">
                <a:solidFill>
                  <a:schemeClr val="tx2"/>
                </a:solidFill>
              </a:rPr>
              <a:t>Position</a:t>
            </a:r>
            <a:endParaRPr lang="en-US" sz="2000" dirty="0"/>
          </a:p>
        </p:txBody>
      </p:sp>
      <p:sp>
        <p:nvSpPr>
          <p:cNvPr id="17" name="Driver body 3"/>
          <p:cNvSpPr txBox="1"/>
          <p:nvPr/>
        </p:nvSpPr>
        <p:spPr>
          <a:xfrm>
            <a:off x="1737360" y="4270248"/>
            <a:ext cx="3977640" cy="1005840"/>
          </a:xfrm>
          <a:prstGeom prst="rect">
            <a:avLst/>
          </a:prstGeom>
          <a:noFill/>
          <a:ln/>
        </p:spPr>
        <p:txBody>
          <a:bodyPr wrap="square" lIns="0" tIns="0" rIns="0" bIns="0" rtlCol="0" anchor="t"/>
          <a:lstStyle/>
          <a:p>
            <a:pPr indent="0" marL="0">
              <a:buNone/>
            </a:pPr>
            <a:r>
              <a:rPr lang="en-US" sz="1600" dirty="0">
                <a:solidFill>
                  <a:schemeClr val="tx1"/>
                </a:solidFill>
              </a:rPr>
              <a:t>Kickers, punters and long snappers are drafted only 23–31% of the time; every other position is at 49% or more.</a:t>
            </a:r>
            <a:endParaRPr lang="en-US" sz="1600" dirty="0"/>
          </a:p>
        </p:txBody>
      </p:sp>
      <p:sp>
        <p:nvSpPr>
          <p:cNvPr id="18" name="Driver card 4"/>
          <p:cNvSpPr/>
          <p:nvPr/>
        </p:nvSpPr>
        <p:spPr>
          <a:xfrm>
            <a:off x="6245352" y="3611880"/>
            <a:ext cx="5394960" cy="1737360"/>
          </a:xfrm>
          <a:prstGeom prst="roundRect">
            <a:avLst>
              <a:gd name="adj" fmla="val 6316"/>
            </a:avLst>
          </a:prstGeom>
          <a:solidFill>
            <a:schemeClr val="bg2"/>
          </a:solidFill>
          <a:ln w="12700">
            <a:solidFill>
              <a:schemeClr val="bg2"/>
            </a:solidFill>
            <a:prstDash val="solid"/>
          </a:ln>
        </p:spPr>
      </p:sp>
      <p:sp>
        <p:nvSpPr>
          <p:cNvPr id="19" name="Driver 4 circle"/>
          <p:cNvSpPr/>
          <p:nvPr/>
        </p:nvSpPr>
        <p:spPr>
          <a:xfrm>
            <a:off x="6519672" y="3886200"/>
            <a:ext cx="685800" cy="685800"/>
          </a:xfrm>
          <a:prstGeom prst="ellipse">
            <a:avLst/>
          </a:prstGeom>
          <a:solidFill>
            <a:schemeClr val="accent1"/>
          </a:solidFill>
          <a:ln w="12700">
            <a:solidFill>
              <a:schemeClr val="accent1"/>
            </a:solidFill>
            <a:prstDash val="solid"/>
          </a:ln>
        </p:spPr>
      </p:sp>
      <p:pic>
        <p:nvPicPr>
          <p:cNvPr id="20" name="Driver 4 icon" descr="preencoded.png">    </p:cNvPr>
          <p:cNvPicPr>
            <a:picLocks noChangeAspect="1"/>
          </p:cNvPicPr>
          <p:nvPr/>
        </p:nvPicPr>
        <p:blipFill>
          <a:blip r:embed="rId4"/>
          <a:stretch>
            <a:fillRect/>
          </a:stretch>
        </p:blipFill>
        <p:spPr>
          <a:xfrm>
            <a:off x="6691122" y="4057650"/>
            <a:ext cx="342900" cy="342900"/>
          </a:xfrm>
          <a:prstGeom prst="rect">
            <a:avLst/>
          </a:prstGeom>
        </p:spPr>
      </p:pic>
      <p:sp>
        <p:nvSpPr>
          <p:cNvPr id="21" name="Driver header 4"/>
          <p:cNvSpPr txBox="1"/>
          <p:nvPr/>
        </p:nvSpPr>
        <p:spPr>
          <a:xfrm>
            <a:off x="7434072" y="3840480"/>
            <a:ext cx="3977640" cy="365760"/>
          </a:xfrm>
          <a:prstGeom prst="rect">
            <a:avLst/>
          </a:prstGeom>
          <a:noFill/>
          <a:ln/>
        </p:spPr>
        <p:txBody>
          <a:bodyPr wrap="square" lIns="0" tIns="0" rIns="0" bIns="0" rtlCol="0" anchor="ctr"/>
          <a:lstStyle/>
          <a:p>
            <a:pPr indent="0" marL="0">
              <a:buNone/>
            </a:pPr>
            <a:r>
              <a:rPr lang="en-US" sz="2000" b="1" dirty="0">
                <a:solidFill>
                  <a:schemeClr val="tx2"/>
                </a:solidFill>
              </a:rPr>
              <a:t>School track record</a:t>
            </a:r>
            <a:endParaRPr lang="en-US" sz="2000" dirty="0"/>
          </a:p>
        </p:txBody>
      </p:sp>
      <p:sp>
        <p:nvSpPr>
          <p:cNvPr id="22" name="Driver body 4"/>
          <p:cNvSpPr txBox="1"/>
          <p:nvPr/>
        </p:nvSpPr>
        <p:spPr>
          <a:xfrm>
            <a:off x="7434072" y="4270248"/>
            <a:ext cx="3977640" cy="1005840"/>
          </a:xfrm>
          <a:prstGeom prst="rect">
            <a:avLst/>
          </a:prstGeom>
          <a:noFill/>
          <a:ln/>
        </p:spPr>
        <p:txBody>
          <a:bodyPr wrap="square" lIns="0" tIns="0" rIns="0" bIns="0" rtlCol="0" anchor="t"/>
          <a:lstStyle/>
          <a:p>
            <a:pPr indent="0" marL="0">
              <a:buNone/>
            </a:pPr>
            <a:r>
              <a:rPr lang="en-US" sz="1600" dirty="0">
                <a:solidFill>
                  <a:schemeClr val="tx1"/>
                </a:solidFill>
              </a:rPr>
              <a:t>Schools with a strong draft record give a small extra boost to a player's score.</a:t>
            </a:r>
            <a:endParaRPr lang="en-US" sz="1600" dirty="0"/>
          </a:p>
        </p:txBody>
      </p:sp>
      <p:sp>
        <p:nvSpPr>
          <p:cNvPr id="23" name="Drivers banner card"/>
          <p:cNvSpPr/>
          <p:nvPr/>
        </p:nvSpPr>
        <p:spPr>
          <a:xfrm>
            <a:off x="548640" y="5532120"/>
            <a:ext cx="11091672" cy="685800"/>
          </a:xfrm>
          <a:prstGeom prst="roundRect">
            <a:avLst>
              <a:gd name="adj" fmla="val 16000"/>
            </a:avLst>
          </a:prstGeom>
          <a:solidFill>
            <a:schemeClr val="tx2"/>
          </a:solidFill>
          <a:ln w="12700">
            <a:solidFill>
              <a:schemeClr val="tx2"/>
            </a:solidFill>
            <a:prstDash val="solid"/>
          </a:ln>
        </p:spPr>
      </p:sp>
      <p:sp>
        <p:nvSpPr>
          <p:cNvPr id="24" name="Drivers banner"/>
          <p:cNvSpPr txBox="1"/>
          <p:nvPr/>
        </p:nvSpPr>
        <p:spPr>
          <a:xfrm>
            <a:off x="822960" y="5532120"/>
            <a:ext cx="10543032" cy="685800"/>
          </a:xfrm>
          <a:prstGeom prst="rect">
            <a:avLst/>
          </a:prstGeom>
          <a:noFill/>
          <a:ln/>
        </p:spPr>
        <p:txBody>
          <a:bodyPr wrap="square" lIns="0" tIns="0" rIns="0" bIns="0" rtlCol="0" anchor="ctr"/>
          <a:lstStyle/>
          <a:p>
            <a:pPr indent="0" marL="0">
              <a:buNone/>
            </a:pPr>
            <a:r>
              <a:rPr lang="en-US" sz="1800" b="1" dirty="0">
                <a:solidFill>
                  <a:schemeClr val="bg1"/>
                </a:solidFill>
              </a:rPr>
              <a:t>Switching between five prediction methods changed results far less than fixing the data shortcut did.</a:t>
            </a:r>
            <a:endParaRPr lang="en-US" sz="18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188720"/>
          </a:xfrm>
          <a:prstGeom prst="rect">
            <a:avLst/>
          </a:prstGeom>
          <a:noFill/>
          <a:ln/>
        </p:spPr>
        <p:txBody>
          <a:bodyPr wrap="square" lIns="0" tIns="0" rIns="0" bIns="0" rtlCol="0" anchor="ctr"/>
          <a:lstStyle/>
          <a:p>
            <a:pPr algn="l" indent="0" marL="0">
              <a:buNone/>
            </a:pPr>
            <a:r>
              <a:rPr lang="en-US" sz="3600" b="1" dirty="0">
                <a:solidFill>
                  <a:schemeClr val="tx2"/>
                </a:solidFill>
              </a:rPr>
              <a:t>Five recommendations for putting scores to work</a:t>
            </a:r>
            <a:endParaRPr lang="en-US" sz="3600" dirty="0"/>
          </a:p>
        </p:txBody>
      </p:sp>
      <p:sp>
        <p:nvSpPr>
          <p:cNvPr id="3" name="Rec card 1"/>
          <p:cNvSpPr/>
          <p:nvPr/>
        </p:nvSpPr>
        <p:spPr>
          <a:xfrm>
            <a:off x="548640" y="1691640"/>
            <a:ext cx="11091672" cy="777240"/>
          </a:xfrm>
          <a:prstGeom prst="roundRect">
            <a:avLst>
              <a:gd name="adj" fmla="val 14118"/>
            </a:avLst>
          </a:prstGeom>
          <a:solidFill>
            <a:schemeClr val="bg2"/>
          </a:solidFill>
          <a:ln w="12700">
            <a:solidFill>
              <a:schemeClr val="bg2"/>
            </a:solidFill>
            <a:prstDash val="solid"/>
          </a:ln>
        </p:spPr>
      </p:sp>
      <p:sp>
        <p:nvSpPr>
          <p:cNvPr id="4" name="Rec number circle 1"/>
          <p:cNvSpPr/>
          <p:nvPr/>
        </p:nvSpPr>
        <p:spPr>
          <a:xfrm>
            <a:off x="777240" y="1805940"/>
            <a:ext cx="548640" cy="548640"/>
          </a:xfrm>
          <a:prstGeom prst="ellipse">
            <a:avLst/>
          </a:prstGeom>
          <a:solidFill>
            <a:schemeClr val="accent1"/>
          </a:solidFill>
          <a:ln w="12700">
            <a:solidFill>
              <a:schemeClr val="accent1"/>
            </a:solidFill>
            <a:prstDash val="solid"/>
          </a:ln>
        </p:spPr>
      </p:sp>
      <p:sp>
        <p:nvSpPr>
          <p:cNvPr id="5" name="Rec number 1"/>
          <p:cNvSpPr txBox="1"/>
          <p:nvPr/>
        </p:nvSpPr>
        <p:spPr>
          <a:xfrm>
            <a:off x="777240" y="18059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Rec header 1"/>
          <p:cNvSpPr txBox="1"/>
          <p:nvPr/>
        </p:nvSpPr>
        <p:spPr>
          <a:xfrm>
            <a:off x="1600200" y="1746504"/>
            <a:ext cx="9784080" cy="347472"/>
          </a:xfrm>
          <a:prstGeom prst="rect">
            <a:avLst/>
          </a:prstGeom>
          <a:noFill/>
          <a:ln/>
        </p:spPr>
        <p:txBody>
          <a:bodyPr wrap="square" lIns="0" tIns="0" rIns="0" bIns="0" rtlCol="0" anchor="ctr"/>
          <a:lstStyle/>
          <a:p>
            <a:pPr indent="0" marL="0">
              <a:buNone/>
            </a:pPr>
            <a:r>
              <a:rPr lang="en-US" sz="2000" b="1" dirty="0">
                <a:solidFill>
                  <a:schemeClr val="tx2"/>
                </a:solidFill>
              </a:rPr>
              <a:t>Rank, don't decide</a:t>
            </a:r>
            <a:endParaRPr lang="en-US" sz="2000" dirty="0"/>
          </a:p>
        </p:txBody>
      </p:sp>
      <p:sp>
        <p:nvSpPr>
          <p:cNvPr id="7" name="Rec body 1"/>
          <p:cNvSpPr txBox="1"/>
          <p:nvPr/>
        </p:nvSpPr>
        <p:spPr>
          <a:xfrm>
            <a:off x="1600200" y="2103120"/>
            <a:ext cx="9784080" cy="301752"/>
          </a:xfrm>
          <a:prstGeom prst="rect">
            <a:avLst/>
          </a:prstGeom>
          <a:noFill/>
          <a:ln/>
        </p:spPr>
        <p:txBody>
          <a:bodyPr wrap="square" lIns="0" tIns="0" rIns="0" bIns="0" rtlCol="0" anchor="ctr"/>
          <a:lstStyle/>
          <a:p>
            <a:pPr indent="0" marL="0">
              <a:buNone/>
            </a:pPr>
            <a:r>
              <a:rPr lang="en-US" sz="1500" dirty="0">
                <a:solidFill>
                  <a:schemeClr val="tx1"/>
                </a:solidFill>
              </a:rPr>
              <a:t>Use scores to choose who to call first, never to drop a lead without a human look.</a:t>
            </a:r>
            <a:endParaRPr lang="en-US" sz="1500" dirty="0"/>
          </a:p>
        </p:txBody>
      </p:sp>
      <p:sp>
        <p:nvSpPr>
          <p:cNvPr id="8" name="Rec card 2"/>
          <p:cNvSpPr/>
          <p:nvPr/>
        </p:nvSpPr>
        <p:spPr>
          <a:xfrm>
            <a:off x="548640" y="2578608"/>
            <a:ext cx="11091672" cy="777240"/>
          </a:xfrm>
          <a:prstGeom prst="roundRect">
            <a:avLst>
              <a:gd name="adj" fmla="val 14118"/>
            </a:avLst>
          </a:prstGeom>
          <a:solidFill>
            <a:schemeClr val="bg2"/>
          </a:solidFill>
          <a:ln w="12700">
            <a:solidFill>
              <a:schemeClr val="bg2"/>
            </a:solidFill>
            <a:prstDash val="solid"/>
          </a:ln>
        </p:spPr>
      </p:sp>
      <p:sp>
        <p:nvSpPr>
          <p:cNvPr id="9" name="Rec number circle 2"/>
          <p:cNvSpPr/>
          <p:nvPr/>
        </p:nvSpPr>
        <p:spPr>
          <a:xfrm>
            <a:off x="777240" y="2692908"/>
            <a:ext cx="548640" cy="548640"/>
          </a:xfrm>
          <a:prstGeom prst="ellipse">
            <a:avLst/>
          </a:prstGeom>
          <a:solidFill>
            <a:schemeClr val="accent1"/>
          </a:solidFill>
          <a:ln w="12700">
            <a:solidFill>
              <a:schemeClr val="accent1"/>
            </a:solidFill>
            <a:prstDash val="solid"/>
          </a:ln>
        </p:spPr>
      </p:sp>
      <p:sp>
        <p:nvSpPr>
          <p:cNvPr id="10" name="Rec number 2"/>
          <p:cNvSpPr txBox="1"/>
          <p:nvPr/>
        </p:nvSpPr>
        <p:spPr>
          <a:xfrm>
            <a:off x="777240" y="2692908"/>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Rec header 2"/>
          <p:cNvSpPr txBox="1"/>
          <p:nvPr/>
        </p:nvSpPr>
        <p:spPr>
          <a:xfrm>
            <a:off x="1600200" y="2633472"/>
            <a:ext cx="9784080" cy="347472"/>
          </a:xfrm>
          <a:prstGeom prst="rect">
            <a:avLst/>
          </a:prstGeom>
          <a:noFill/>
          <a:ln/>
        </p:spPr>
        <p:txBody>
          <a:bodyPr wrap="square" lIns="0" tIns="0" rIns="0" bIns="0" rtlCol="0" anchor="ctr"/>
          <a:lstStyle/>
          <a:p>
            <a:pPr indent="0" marL="0">
              <a:buNone/>
            </a:pPr>
            <a:r>
              <a:rPr lang="en-US" sz="2000" b="1" dirty="0">
                <a:solidFill>
                  <a:schemeClr val="tx2"/>
                </a:solidFill>
              </a:rPr>
              <a:t>Pilot before rolling out</a:t>
            </a:r>
            <a:endParaRPr lang="en-US" sz="2000" dirty="0"/>
          </a:p>
        </p:txBody>
      </p:sp>
      <p:sp>
        <p:nvSpPr>
          <p:cNvPr id="12" name="Rec body 2"/>
          <p:cNvSpPr txBox="1"/>
          <p:nvPr/>
        </p:nvSpPr>
        <p:spPr>
          <a:xfrm>
            <a:off x="1600200" y="2990088"/>
            <a:ext cx="9784080" cy="301752"/>
          </a:xfrm>
          <a:prstGeom prst="rect">
            <a:avLst/>
          </a:prstGeom>
          <a:noFill/>
          <a:ln/>
        </p:spPr>
        <p:txBody>
          <a:bodyPr wrap="square" lIns="0" tIns="0" rIns="0" bIns="0" rtlCol="0" anchor="ctr"/>
          <a:lstStyle/>
          <a:p>
            <a:pPr indent="0" marL="0">
              <a:buNone/>
            </a:pPr>
            <a:r>
              <a:rPr lang="en-US" sz="1500" dirty="0">
                <a:solidFill>
                  <a:schemeClr val="tx1"/>
                </a:solidFill>
              </a:rPr>
              <a:t>Give scores to half of a team for 8–12 weeks and compare with the other half.</a:t>
            </a:r>
            <a:endParaRPr lang="en-US" sz="1500" dirty="0"/>
          </a:p>
        </p:txBody>
      </p:sp>
      <p:sp>
        <p:nvSpPr>
          <p:cNvPr id="13" name="Rec card 3"/>
          <p:cNvSpPr/>
          <p:nvPr/>
        </p:nvSpPr>
        <p:spPr>
          <a:xfrm>
            <a:off x="548640" y="3465576"/>
            <a:ext cx="11091672" cy="777240"/>
          </a:xfrm>
          <a:prstGeom prst="roundRect">
            <a:avLst>
              <a:gd name="adj" fmla="val 14118"/>
            </a:avLst>
          </a:prstGeom>
          <a:solidFill>
            <a:schemeClr val="bg2"/>
          </a:solidFill>
          <a:ln w="12700">
            <a:solidFill>
              <a:schemeClr val="bg2"/>
            </a:solidFill>
            <a:prstDash val="solid"/>
          </a:ln>
        </p:spPr>
      </p:sp>
      <p:sp>
        <p:nvSpPr>
          <p:cNvPr id="14" name="Rec number circle 3"/>
          <p:cNvSpPr/>
          <p:nvPr/>
        </p:nvSpPr>
        <p:spPr>
          <a:xfrm>
            <a:off x="777240" y="3579876"/>
            <a:ext cx="548640" cy="548640"/>
          </a:xfrm>
          <a:prstGeom prst="ellipse">
            <a:avLst/>
          </a:prstGeom>
          <a:solidFill>
            <a:schemeClr val="accent1"/>
          </a:solidFill>
          <a:ln w="12700">
            <a:solidFill>
              <a:schemeClr val="accent1"/>
            </a:solidFill>
            <a:prstDash val="solid"/>
          </a:ln>
        </p:spPr>
      </p:sp>
      <p:sp>
        <p:nvSpPr>
          <p:cNvPr id="15" name="Rec number 3"/>
          <p:cNvSpPr txBox="1"/>
          <p:nvPr/>
        </p:nvSpPr>
        <p:spPr>
          <a:xfrm>
            <a:off x="777240" y="3579876"/>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6" name="Rec header 3"/>
          <p:cNvSpPr txBox="1"/>
          <p:nvPr/>
        </p:nvSpPr>
        <p:spPr>
          <a:xfrm>
            <a:off x="1600200" y="3520440"/>
            <a:ext cx="9784080" cy="347472"/>
          </a:xfrm>
          <a:prstGeom prst="rect">
            <a:avLst/>
          </a:prstGeom>
          <a:noFill/>
          <a:ln/>
        </p:spPr>
        <p:txBody>
          <a:bodyPr wrap="square" lIns="0" tIns="0" rIns="0" bIns="0" rtlCol="0" anchor="ctr"/>
          <a:lstStyle/>
          <a:p>
            <a:pPr indent="0" marL="0">
              <a:buNone/>
            </a:pPr>
            <a:r>
              <a:rPr lang="en-US" sz="2000" b="1" dirty="0">
                <a:solidFill>
                  <a:schemeClr val="tx2"/>
                </a:solidFill>
              </a:rPr>
              <a:t>Show the reason behind each score</a:t>
            </a:r>
            <a:endParaRPr lang="en-US" sz="2000" dirty="0"/>
          </a:p>
        </p:txBody>
      </p:sp>
      <p:sp>
        <p:nvSpPr>
          <p:cNvPr id="17" name="Rec body 3"/>
          <p:cNvSpPr txBox="1"/>
          <p:nvPr/>
        </p:nvSpPr>
        <p:spPr>
          <a:xfrm>
            <a:off x="1600200" y="3877056"/>
            <a:ext cx="9784080" cy="301752"/>
          </a:xfrm>
          <a:prstGeom prst="rect">
            <a:avLst/>
          </a:prstGeom>
          <a:noFill/>
          <a:ln/>
        </p:spPr>
        <p:txBody>
          <a:bodyPr wrap="square" lIns="0" tIns="0" rIns="0" bIns="0" rtlCol="0" anchor="ctr"/>
          <a:lstStyle/>
          <a:p>
            <a:pPr indent="0" marL="0">
              <a:buNone/>
            </a:pPr>
            <a:r>
              <a:rPr lang="en-US" sz="1500" dirty="0">
                <a:solidFill>
                  <a:schemeClr val="tx1"/>
                </a:solidFill>
              </a:rPr>
              <a:t>A short “why” (for example company size and recent activity) builds trust; a bare number gets ignored.</a:t>
            </a:r>
            <a:endParaRPr lang="en-US" sz="1500" dirty="0"/>
          </a:p>
        </p:txBody>
      </p:sp>
      <p:sp>
        <p:nvSpPr>
          <p:cNvPr id="18" name="Rec card 4"/>
          <p:cNvSpPr/>
          <p:nvPr/>
        </p:nvSpPr>
        <p:spPr>
          <a:xfrm>
            <a:off x="548640" y="4352544"/>
            <a:ext cx="11091672" cy="777240"/>
          </a:xfrm>
          <a:prstGeom prst="roundRect">
            <a:avLst>
              <a:gd name="adj" fmla="val 14118"/>
            </a:avLst>
          </a:prstGeom>
          <a:solidFill>
            <a:schemeClr val="bg2"/>
          </a:solidFill>
          <a:ln w="12700">
            <a:solidFill>
              <a:schemeClr val="bg2"/>
            </a:solidFill>
            <a:prstDash val="solid"/>
          </a:ln>
        </p:spPr>
      </p:sp>
      <p:sp>
        <p:nvSpPr>
          <p:cNvPr id="19" name="Rec number circle 4"/>
          <p:cNvSpPr/>
          <p:nvPr/>
        </p:nvSpPr>
        <p:spPr>
          <a:xfrm>
            <a:off x="777240" y="4466844"/>
            <a:ext cx="548640" cy="548640"/>
          </a:xfrm>
          <a:prstGeom prst="ellipse">
            <a:avLst/>
          </a:prstGeom>
          <a:solidFill>
            <a:schemeClr val="accent1"/>
          </a:solidFill>
          <a:ln w="12700">
            <a:solidFill>
              <a:schemeClr val="accent1"/>
            </a:solidFill>
            <a:prstDash val="solid"/>
          </a:ln>
        </p:spPr>
      </p:sp>
      <p:sp>
        <p:nvSpPr>
          <p:cNvPr id="20" name="Rec number 4"/>
          <p:cNvSpPr txBox="1"/>
          <p:nvPr/>
        </p:nvSpPr>
        <p:spPr>
          <a:xfrm>
            <a:off x="777240" y="4466844"/>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1" name="Rec header 4"/>
          <p:cNvSpPr txBox="1"/>
          <p:nvPr/>
        </p:nvSpPr>
        <p:spPr>
          <a:xfrm>
            <a:off x="1600200" y="4407408"/>
            <a:ext cx="9784080" cy="347472"/>
          </a:xfrm>
          <a:prstGeom prst="rect">
            <a:avLst/>
          </a:prstGeom>
          <a:noFill/>
          <a:ln/>
        </p:spPr>
        <p:txBody>
          <a:bodyPr wrap="square" lIns="0" tIns="0" rIns="0" bIns="0" rtlCol="0" anchor="ctr"/>
          <a:lstStyle/>
          <a:p>
            <a:pPr indent="0" marL="0">
              <a:buNone/>
            </a:pPr>
            <a:r>
              <a:rPr lang="en-US" sz="2000" b="1" dirty="0">
                <a:solidFill>
                  <a:schemeClr val="tx2"/>
                </a:solidFill>
              </a:rPr>
              <a:t>Audit the data for shortcuts</a:t>
            </a:r>
            <a:endParaRPr lang="en-US" sz="2000" dirty="0"/>
          </a:p>
        </p:txBody>
      </p:sp>
      <p:sp>
        <p:nvSpPr>
          <p:cNvPr id="22" name="Rec body 4"/>
          <p:cNvSpPr txBox="1"/>
          <p:nvPr/>
        </p:nvSpPr>
        <p:spPr>
          <a:xfrm>
            <a:off x="1600200" y="4764024"/>
            <a:ext cx="9784080" cy="301752"/>
          </a:xfrm>
          <a:prstGeom prst="rect">
            <a:avLst/>
          </a:prstGeom>
          <a:noFill/>
          <a:ln/>
        </p:spPr>
        <p:txBody>
          <a:bodyPr wrap="square" lIns="0" tIns="0" rIns="0" bIns="0" rtlCol="0" anchor="ctr"/>
          <a:lstStyle/>
          <a:p>
            <a:pPr indent="0" marL="0">
              <a:buNone/>
            </a:pPr>
            <a:r>
              <a:rPr lang="en-US" sz="1500" dirty="0">
                <a:solidFill>
                  <a:schemeClr val="tx1"/>
                </a:solidFill>
              </a:rPr>
              <a:t>Exclude fields filled in only after the outcome, and document what was excluded and why.</a:t>
            </a:r>
            <a:endParaRPr lang="en-US" sz="1500" dirty="0"/>
          </a:p>
        </p:txBody>
      </p:sp>
      <p:sp>
        <p:nvSpPr>
          <p:cNvPr id="23" name="Rec card 5"/>
          <p:cNvSpPr/>
          <p:nvPr/>
        </p:nvSpPr>
        <p:spPr>
          <a:xfrm>
            <a:off x="548640" y="5239512"/>
            <a:ext cx="11091672" cy="777240"/>
          </a:xfrm>
          <a:prstGeom prst="roundRect">
            <a:avLst>
              <a:gd name="adj" fmla="val 14118"/>
            </a:avLst>
          </a:prstGeom>
          <a:solidFill>
            <a:schemeClr val="bg2"/>
          </a:solidFill>
          <a:ln w="12700">
            <a:solidFill>
              <a:schemeClr val="bg2"/>
            </a:solidFill>
            <a:prstDash val="solid"/>
          </a:ln>
        </p:spPr>
      </p:sp>
      <p:sp>
        <p:nvSpPr>
          <p:cNvPr id="24" name="Rec number circle 5"/>
          <p:cNvSpPr/>
          <p:nvPr/>
        </p:nvSpPr>
        <p:spPr>
          <a:xfrm>
            <a:off x="777240" y="5353812"/>
            <a:ext cx="548640" cy="548640"/>
          </a:xfrm>
          <a:prstGeom prst="ellipse">
            <a:avLst/>
          </a:prstGeom>
          <a:solidFill>
            <a:schemeClr val="accent1"/>
          </a:solidFill>
          <a:ln w="12700">
            <a:solidFill>
              <a:schemeClr val="accent1"/>
            </a:solidFill>
            <a:prstDash val="solid"/>
          </a:ln>
        </p:spPr>
      </p:sp>
      <p:sp>
        <p:nvSpPr>
          <p:cNvPr id="25" name="Rec number 5"/>
          <p:cNvSpPr txBox="1"/>
          <p:nvPr/>
        </p:nvSpPr>
        <p:spPr>
          <a:xfrm>
            <a:off x="777240" y="5353812"/>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6" name="Rec header 5"/>
          <p:cNvSpPr txBox="1"/>
          <p:nvPr/>
        </p:nvSpPr>
        <p:spPr>
          <a:xfrm>
            <a:off x="1600200" y="5294376"/>
            <a:ext cx="9784080" cy="347472"/>
          </a:xfrm>
          <a:prstGeom prst="rect">
            <a:avLst/>
          </a:prstGeom>
          <a:noFill/>
          <a:ln/>
        </p:spPr>
        <p:txBody>
          <a:bodyPr wrap="square" lIns="0" tIns="0" rIns="0" bIns="0" rtlCol="0" anchor="ctr"/>
          <a:lstStyle/>
          <a:p>
            <a:pPr indent="0" marL="0">
              <a:buNone/>
            </a:pPr>
            <a:r>
              <a:rPr lang="en-US" sz="2000" b="1" dirty="0">
                <a:solidFill>
                  <a:schemeClr val="tx2"/>
                </a:solidFill>
              </a:rPr>
              <a:t>Monitor and retrain</a:t>
            </a:r>
            <a:endParaRPr lang="en-US" sz="2000" dirty="0"/>
          </a:p>
        </p:txBody>
      </p:sp>
      <p:sp>
        <p:nvSpPr>
          <p:cNvPr id="27" name="Rec body 5"/>
          <p:cNvSpPr txBox="1"/>
          <p:nvPr/>
        </p:nvSpPr>
        <p:spPr>
          <a:xfrm>
            <a:off x="1600200" y="5650992"/>
            <a:ext cx="9784080" cy="301752"/>
          </a:xfrm>
          <a:prstGeom prst="rect">
            <a:avLst/>
          </a:prstGeom>
          <a:noFill/>
          <a:ln/>
        </p:spPr>
        <p:txBody>
          <a:bodyPr wrap="square" lIns="0" tIns="0" rIns="0" bIns="0" rtlCol="0" anchor="ctr"/>
          <a:lstStyle/>
          <a:p>
            <a:pPr indent="0" marL="0">
              <a:buNone/>
            </a:pPr>
            <a:r>
              <a:rPr lang="en-US" sz="1500" dirty="0">
                <a:solidFill>
                  <a:schemeClr val="tx1"/>
                </a:solidFill>
              </a:rPr>
              <a:t>Check scores against real outcomes every quarter; markets and behavior change.</a:t>
            </a:r>
            <a:endParaRPr lang="en-US" sz="15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188720"/>
          </a:xfrm>
          <a:prstGeom prst="rect">
            <a:avLst/>
          </a:prstGeom>
          <a:noFill/>
          <a:ln/>
        </p:spPr>
        <p:txBody>
          <a:bodyPr wrap="square" lIns="0" tIns="0" rIns="0" bIns="0" rtlCol="0" anchor="ctr"/>
          <a:lstStyle/>
          <a:p>
            <a:pPr algn="l" indent="0" marL="0">
              <a:buNone/>
            </a:pPr>
            <a:r>
              <a:rPr lang="en-US" sz="3600" b="1" dirty="0">
                <a:solidFill>
                  <a:schemeClr val="tx2"/>
                </a:solidFill>
              </a:rPr>
              <a:t>What the score cannot tell you</a:t>
            </a:r>
            <a:endParaRPr lang="en-US" sz="3600" dirty="0"/>
          </a:p>
        </p:txBody>
      </p:sp>
      <p:sp>
        <p:nvSpPr>
          <p:cNvPr id="3" name="Can card"/>
          <p:cNvSpPr/>
          <p:nvPr/>
        </p:nvSpPr>
        <p:spPr>
          <a:xfrm>
            <a:off x="548640" y="1737360"/>
            <a:ext cx="5394960" cy="3520440"/>
          </a:xfrm>
          <a:prstGeom prst="roundRect">
            <a:avLst>
              <a:gd name="adj" fmla="val 3117"/>
            </a:avLst>
          </a:prstGeom>
          <a:solidFill>
            <a:schemeClr val="bg2"/>
          </a:solidFill>
          <a:ln w="12700">
            <a:solidFill>
              <a:schemeClr val="bg2"/>
            </a:solidFill>
            <a:prstDash val="solid"/>
          </a:ln>
        </p:spPr>
      </p:sp>
      <p:sp>
        <p:nvSpPr>
          <p:cNvPr id="4" name="Can circle"/>
          <p:cNvSpPr/>
          <p:nvPr/>
        </p:nvSpPr>
        <p:spPr>
          <a:xfrm>
            <a:off x="822960" y="1965960"/>
            <a:ext cx="640080" cy="640080"/>
          </a:xfrm>
          <a:prstGeom prst="ellipse">
            <a:avLst/>
          </a:prstGeom>
          <a:solidFill>
            <a:schemeClr val="accent1"/>
          </a:solidFill>
          <a:ln w="12700">
            <a:solidFill>
              <a:schemeClr val="accent1"/>
            </a:solidFill>
            <a:prstDash val="solid"/>
          </a:ln>
        </p:spPr>
      </p:sp>
      <p:pic>
        <p:nvPicPr>
          <p:cNvPr id="5" name="Can icon" descr="preencoded.png">    </p:cNvPr>
          <p:cNvPicPr>
            <a:picLocks noChangeAspect="1"/>
          </p:cNvPicPr>
          <p:nvPr/>
        </p:nvPicPr>
        <p:blipFill>
          <a:blip r:embed="rId1"/>
          <a:stretch>
            <a:fillRect/>
          </a:stretch>
        </p:blipFill>
        <p:spPr>
          <a:xfrm>
            <a:off x="982980" y="2125980"/>
            <a:ext cx="320040" cy="320040"/>
          </a:xfrm>
          <a:prstGeom prst="rect">
            <a:avLst/>
          </a:prstGeom>
        </p:spPr>
      </p:pic>
      <p:sp>
        <p:nvSpPr>
          <p:cNvPr id="6" name="Can header"/>
          <p:cNvSpPr txBox="1"/>
          <p:nvPr/>
        </p:nvSpPr>
        <p:spPr>
          <a:xfrm>
            <a:off x="1645920" y="1965960"/>
            <a:ext cx="4114800" cy="640080"/>
          </a:xfrm>
          <a:prstGeom prst="rect">
            <a:avLst/>
          </a:prstGeom>
          <a:noFill/>
          <a:ln/>
        </p:spPr>
        <p:txBody>
          <a:bodyPr wrap="square" lIns="0" tIns="0" rIns="0" bIns="0" rtlCol="0" anchor="ctr"/>
          <a:lstStyle/>
          <a:p>
            <a:pPr indent="0" marL="0">
              <a:buNone/>
            </a:pPr>
            <a:r>
              <a:rPr lang="en-US" sz="2000" b="1" dirty="0">
                <a:solidFill>
                  <a:schemeClr val="tx2"/>
                </a:solidFill>
              </a:rPr>
              <a:t>Reasonable to use it for</a:t>
            </a:r>
            <a:endParaRPr lang="en-US" sz="2000" dirty="0"/>
          </a:p>
        </p:txBody>
      </p:sp>
      <p:sp>
        <p:nvSpPr>
          <p:cNvPr id="7" name="Can list"/>
          <p:cNvSpPr txBox="1"/>
          <p:nvPr/>
        </p:nvSpPr>
        <p:spPr>
          <a:xfrm>
            <a:off x="822960" y="2880360"/>
            <a:ext cx="484632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Deciding who gets attention first</a:t>
            </a:r>
            <a:endParaRPr lang="en-US" sz="1800" dirty="0"/>
          </a:p>
          <a:p>
            <a:pPr marL="342900" indent="-342900">
              <a:spcAft>
                <a:spcPts val="1000"/>
              </a:spcAft>
              <a:buSzPct val="100000"/>
              <a:buChar char="•"/>
            </a:pPr>
            <a:r>
              <a:rPr lang="en-US" sz="1800" dirty="0">
                <a:solidFill>
                  <a:schemeClr val="tx1"/>
                </a:solidFill>
              </a:rPr>
              <a:t>Finding the strongest and weakest groups</a:t>
            </a:r>
            <a:endParaRPr lang="en-US" sz="1800" dirty="0"/>
          </a:p>
          <a:p>
            <a:pPr marL="342900" indent="-342900">
              <a:spcAft>
                <a:spcPts val="1000"/>
              </a:spcAft>
              <a:buSzPct val="100000"/>
              <a:buChar char="•"/>
            </a:pPr>
            <a:r>
              <a:rPr lang="en-US" sz="1800" dirty="0">
                <a:solidFill>
                  <a:schemeClr val="tx1"/>
                </a:solidFill>
              </a:rPr>
              <a:t>Comparing many similar cases at scale</a:t>
            </a:r>
            <a:endParaRPr lang="en-US" sz="1800" dirty="0"/>
          </a:p>
        </p:txBody>
      </p:sp>
      <p:sp>
        <p:nvSpPr>
          <p:cNvPr id="8" name="Cannot card"/>
          <p:cNvSpPr/>
          <p:nvPr/>
        </p:nvSpPr>
        <p:spPr>
          <a:xfrm>
            <a:off x="6245352" y="1737360"/>
            <a:ext cx="5394960" cy="3520440"/>
          </a:xfrm>
          <a:prstGeom prst="roundRect">
            <a:avLst>
              <a:gd name="adj" fmla="val 3117"/>
            </a:avLst>
          </a:prstGeom>
          <a:solidFill>
            <a:srgbClr val="F8E4DF"/>
          </a:solidFill>
          <a:ln w="12700">
            <a:solidFill>
              <a:srgbClr val="F8E4DF"/>
            </a:solidFill>
            <a:prstDash val="solid"/>
          </a:ln>
        </p:spPr>
      </p:sp>
      <p:sp>
        <p:nvSpPr>
          <p:cNvPr id="9" name="Cannot circle"/>
          <p:cNvSpPr/>
          <p:nvPr/>
        </p:nvSpPr>
        <p:spPr>
          <a:xfrm>
            <a:off x="6519672" y="1965960"/>
            <a:ext cx="640080" cy="640080"/>
          </a:xfrm>
          <a:prstGeom prst="ellipse">
            <a:avLst/>
          </a:prstGeom>
          <a:solidFill>
            <a:schemeClr val="accent2"/>
          </a:solidFill>
          <a:ln w="12700">
            <a:solidFill>
              <a:schemeClr val="accent2"/>
            </a:solidFill>
            <a:prstDash val="solid"/>
          </a:ln>
        </p:spPr>
      </p:sp>
      <p:pic>
        <p:nvPicPr>
          <p:cNvPr id="10" name="Cannot icon" descr="preencoded.png">    </p:cNvPr>
          <p:cNvPicPr>
            <a:picLocks noChangeAspect="1"/>
          </p:cNvPicPr>
          <p:nvPr/>
        </p:nvPicPr>
        <p:blipFill>
          <a:blip r:embed="rId2"/>
          <a:stretch>
            <a:fillRect/>
          </a:stretch>
        </p:blipFill>
        <p:spPr>
          <a:xfrm>
            <a:off x="6679692" y="2125980"/>
            <a:ext cx="320040" cy="320040"/>
          </a:xfrm>
          <a:prstGeom prst="rect">
            <a:avLst/>
          </a:prstGeom>
        </p:spPr>
      </p:pic>
      <p:sp>
        <p:nvSpPr>
          <p:cNvPr id="11" name="Cannot header"/>
          <p:cNvSpPr txBox="1"/>
          <p:nvPr/>
        </p:nvSpPr>
        <p:spPr>
          <a:xfrm>
            <a:off x="7342632" y="1965960"/>
            <a:ext cx="4114800" cy="640080"/>
          </a:xfrm>
          <a:prstGeom prst="rect">
            <a:avLst/>
          </a:prstGeom>
          <a:noFill/>
          <a:ln/>
        </p:spPr>
        <p:txBody>
          <a:bodyPr wrap="square" lIns="0" tIns="0" rIns="0" bIns="0" rtlCol="0" anchor="ctr"/>
          <a:lstStyle/>
          <a:p>
            <a:pPr indent="0" marL="0">
              <a:buNone/>
            </a:pPr>
            <a:r>
              <a:rPr lang="en-US" sz="2000" b="1" dirty="0">
                <a:solidFill>
                  <a:schemeClr val="tx2"/>
                </a:solidFill>
              </a:rPr>
              <a:t>Not reliable for</a:t>
            </a:r>
            <a:endParaRPr lang="en-US" sz="2000" dirty="0"/>
          </a:p>
        </p:txBody>
      </p:sp>
      <p:sp>
        <p:nvSpPr>
          <p:cNvPr id="12" name="Cannot list"/>
          <p:cNvSpPr txBox="1"/>
          <p:nvPr/>
        </p:nvSpPr>
        <p:spPr>
          <a:xfrm>
            <a:off x="6519672" y="2880360"/>
            <a:ext cx="484632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Judging one case with certainty: even a 90% score is wrong 1 time in 10</a:t>
            </a:r>
            <a:endParaRPr lang="en-US" sz="1800" dirty="0"/>
          </a:p>
          <a:p>
            <a:pPr marL="342900" indent="-342900">
              <a:spcAft>
                <a:spcPts val="1000"/>
              </a:spcAft>
              <a:buSzPct val="100000"/>
              <a:buChar char="•"/>
            </a:pPr>
            <a:r>
              <a:rPr lang="en-US" sz="1800" dirty="0">
                <a:solidFill>
                  <a:schemeClr val="tx1"/>
                </a:solidFill>
              </a:rPr>
              <a:t>Anything outside the data, such as college performance, injuries, team needs or personal relationships</a:t>
            </a:r>
            <a:endParaRPr lang="en-US" sz="1800" dirty="0"/>
          </a:p>
          <a:p>
            <a:pPr marL="342900" indent="-342900">
              <a:spcAft>
                <a:spcPts val="1000"/>
              </a:spcAft>
              <a:buSzPct val="100000"/>
              <a:buChar char="•"/>
            </a:pPr>
            <a:r>
              <a:rPr lang="en-US" sz="1800" dirty="0">
                <a:solidFill>
                  <a:schemeClr val="tx1"/>
                </a:solidFill>
              </a:rPr>
              <a:t>Future years, until the score is tested on them</a:t>
            </a:r>
            <a:endParaRPr lang="en-US" sz="1800" dirty="0"/>
          </a:p>
        </p:txBody>
      </p:sp>
      <p:sp>
        <p:nvSpPr>
          <p:cNvPr id="13" name="Limits banner card"/>
          <p:cNvSpPr/>
          <p:nvPr/>
        </p:nvSpPr>
        <p:spPr>
          <a:xfrm>
            <a:off x="548640" y="5532120"/>
            <a:ext cx="11091672" cy="685800"/>
          </a:xfrm>
          <a:prstGeom prst="roundRect">
            <a:avLst>
              <a:gd name="adj" fmla="val 16000"/>
            </a:avLst>
          </a:prstGeom>
          <a:solidFill>
            <a:schemeClr val="tx2"/>
          </a:solidFill>
          <a:ln w="12700">
            <a:solidFill>
              <a:schemeClr val="tx2"/>
            </a:solidFill>
            <a:prstDash val="solid"/>
          </a:ln>
        </p:spPr>
      </p:sp>
      <p:sp>
        <p:nvSpPr>
          <p:cNvPr id="14" name="Limits banner"/>
          <p:cNvSpPr txBox="1"/>
          <p:nvPr/>
        </p:nvSpPr>
        <p:spPr>
          <a:xfrm>
            <a:off x="822960" y="5532120"/>
            <a:ext cx="10543032" cy="685800"/>
          </a:xfrm>
          <a:prstGeom prst="rect">
            <a:avLst/>
          </a:prstGeom>
          <a:noFill/>
          <a:ln/>
        </p:spPr>
        <p:txBody>
          <a:bodyPr wrap="square" lIns="0" tIns="0" rIns="0" bIns="0" rtlCol="0" anchor="ctr"/>
          <a:lstStyle/>
          <a:p>
            <a:pPr indent="0" marL="0">
              <a:buNone/>
            </a:pPr>
            <a:r>
              <a:rPr lang="en-US" sz="1800" b="1" dirty="0">
                <a:solidFill>
                  <a:schemeClr val="bg1"/>
                </a:solidFill>
              </a:rPr>
              <a:t>76% is a strong ranking signal, not a guarantee.</a:t>
            </a:r>
            <a:endParaRPr lang="en-US" sz="18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188720"/>
          </a:xfrm>
          <a:prstGeom prst="rect">
            <a:avLst/>
          </a:prstGeom>
          <a:noFill/>
          <a:ln/>
        </p:spPr>
        <p:txBody>
          <a:bodyPr wrap="square" lIns="0" tIns="0" rIns="0" bIns="0" rtlCol="0" anchor="ctr"/>
          <a:lstStyle/>
          <a:p>
            <a:pPr algn="l" indent="0" marL="0">
              <a:buNone/>
            </a:pPr>
            <a:r>
              <a:rPr lang="en-US" sz="3600" b="1" dirty="0">
                <a:solidFill>
                  <a:schemeClr val="tx2"/>
                </a:solidFill>
              </a:rPr>
              <a:t>Proposed next step: a 12-week pilot</a:t>
            </a:r>
            <a:endParaRPr lang="en-US" sz="3600" dirty="0"/>
          </a:p>
        </p:txBody>
      </p:sp>
      <p:sp>
        <p:nvSpPr>
          <p:cNvPr id="3" name="Plan circle 1"/>
          <p:cNvSpPr/>
          <p:nvPr/>
        </p:nvSpPr>
        <p:spPr>
          <a:xfrm>
            <a:off x="548640" y="1783080"/>
            <a:ext cx="640080" cy="640080"/>
          </a:xfrm>
          <a:prstGeom prst="ellipse">
            <a:avLst/>
          </a:prstGeom>
          <a:solidFill>
            <a:schemeClr val="accent1"/>
          </a:solidFill>
          <a:ln w="12700">
            <a:solidFill>
              <a:schemeClr val="accent1"/>
            </a:solidFill>
            <a:prstDash val="solid"/>
          </a:ln>
        </p:spPr>
      </p:sp>
      <p:sp>
        <p:nvSpPr>
          <p:cNvPr id="4" name="Plan number 1"/>
          <p:cNvSpPr txBox="1"/>
          <p:nvPr/>
        </p:nvSpPr>
        <p:spPr>
          <a:xfrm>
            <a:off x="548640" y="17830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Plan connector 1"/>
          <p:cNvSpPr/>
          <p:nvPr/>
        </p:nvSpPr>
        <p:spPr>
          <a:xfrm>
            <a:off x="1325880" y="2103120"/>
            <a:ext cx="1965960" cy="0"/>
          </a:xfrm>
          <a:prstGeom prst="line">
            <a:avLst/>
          </a:prstGeom>
          <a:noFill/>
          <a:ln w="25400">
            <a:solidFill>
              <a:schemeClr val="accent5"/>
            </a:solidFill>
            <a:prstDash val="dash"/>
          </a:ln>
        </p:spPr>
      </p:sp>
      <p:sp>
        <p:nvSpPr>
          <p:cNvPr id="6" name="Plan header 1"/>
          <p:cNvSpPr txBox="1"/>
          <p:nvPr/>
        </p:nvSpPr>
        <p:spPr>
          <a:xfrm>
            <a:off x="548640" y="2606040"/>
            <a:ext cx="2560320" cy="365760"/>
          </a:xfrm>
          <a:prstGeom prst="rect">
            <a:avLst/>
          </a:prstGeom>
          <a:noFill/>
          <a:ln/>
        </p:spPr>
        <p:txBody>
          <a:bodyPr wrap="square" lIns="0" tIns="0" rIns="0" bIns="0" rtlCol="0" anchor="ctr"/>
          <a:lstStyle/>
          <a:p>
            <a:pPr indent="0" marL="0">
              <a:buNone/>
            </a:pPr>
            <a:r>
              <a:rPr lang="en-US" sz="1800" b="1" dirty="0">
                <a:solidFill>
                  <a:schemeClr val="accent1"/>
                </a:solidFill>
              </a:rPr>
              <a:t>Weeks 0–2</a:t>
            </a:r>
            <a:endParaRPr lang="en-US" sz="1800" dirty="0"/>
          </a:p>
        </p:txBody>
      </p:sp>
      <p:sp>
        <p:nvSpPr>
          <p:cNvPr id="7" name="Plan body 1"/>
          <p:cNvSpPr txBox="1"/>
          <p:nvPr/>
        </p:nvSpPr>
        <p:spPr>
          <a:xfrm>
            <a:off x="548640" y="3017520"/>
            <a:ext cx="2514600" cy="1097280"/>
          </a:xfrm>
          <a:prstGeom prst="rect">
            <a:avLst/>
          </a:prstGeom>
          <a:noFill/>
          <a:ln/>
        </p:spPr>
        <p:txBody>
          <a:bodyPr wrap="square" lIns="0" tIns="0" rIns="0" bIns="0" rtlCol="0" anchor="t"/>
          <a:lstStyle/>
          <a:p>
            <a:pPr indent="0" marL="0">
              <a:buNone/>
            </a:pPr>
            <a:r>
              <a:rPr lang="en-US" sz="1600" dirty="0">
                <a:solidFill>
                  <a:schemeClr val="tx1"/>
                </a:solidFill>
              </a:rPr>
              <a:t>Agree what success means and which fields may be used.</a:t>
            </a:r>
            <a:endParaRPr lang="en-US" sz="1600" dirty="0"/>
          </a:p>
        </p:txBody>
      </p:sp>
      <p:sp>
        <p:nvSpPr>
          <p:cNvPr id="8" name="Plan circle 2"/>
          <p:cNvSpPr/>
          <p:nvPr/>
        </p:nvSpPr>
        <p:spPr>
          <a:xfrm>
            <a:off x="3362249" y="1783080"/>
            <a:ext cx="640080" cy="640080"/>
          </a:xfrm>
          <a:prstGeom prst="ellipse">
            <a:avLst/>
          </a:prstGeom>
          <a:solidFill>
            <a:schemeClr val="accent1"/>
          </a:solidFill>
          <a:ln w="12700">
            <a:solidFill>
              <a:schemeClr val="accent1"/>
            </a:solidFill>
            <a:prstDash val="solid"/>
          </a:ln>
        </p:spPr>
      </p:sp>
      <p:sp>
        <p:nvSpPr>
          <p:cNvPr id="9" name="Plan number 2"/>
          <p:cNvSpPr txBox="1"/>
          <p:nvPr/>
        </p:nvSpPr>
        <p:spPr>
          <a:xfrm>
            <a:off x="3362249" y="17830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Plan connector 2"/>
          <p:cNvSpPr/>
          <p:nvPr/>
        </p:nvSpPr>
        <p:spPr>
          <a:xfrm>
            <a:off x="4139489" y="2103120"/>
            <a:ext cx="1965960" cy="0"/>
          </a:xfrm>
          <a:prstGeom prst="line">
            <a:avLst/>
          </a:prstGeom>
          <a:noFill/>
          <a:ln w="25400">
            <a:solidFill>
              <a:schemeClr val="accent5"/>
            </a:solidFill>
            <a:prstDash val="dash"/>
          </a:ln>
        </p:spPr>
      </p:sp>
      <p:sp>
        <p:nvSpPr>
          <p:cNvPr id="11" name="Plan header 2"/>
          <p:cNvSpPr txBox="1"/>
          <p:nvPr/>
        </p:nvSpPr>
        <p:spPr>
          <a:xfrm>
            <a:off x="3362249" y="2606040"/>
            <a:ext cx="2560320" cy="365760"/>
          </a:xfrm>
          <a:prstGeom prst="rect">
            <a:avLst/>
          </a:prstGeom>
          <a:noFill/>
          <a:ln/>
        </p:spPr>
        <p:txBody>
          <a:bodyPr wrap="square" lIns="0" tIns="0" rIns="0" bIns="0" rtlCol="0" anchor="ctr"/>
          <a:lstStyle/>
          <a:p>
            <a:pPr indent="0" marL="0">
              <a:buNone/>
            </a:pPr>
            <a:r>
              <a:rPr lang="en-US" sz="1800" b="1" dirty="0">
                <a:solidFill>
                  <a:schemeClr val="accent1"/>
                </a:solidFill>
              </a:rPr>
              <a:t>Weeks 2–4</a:t>
            </a:r>
            <a:endParaRPr lang="en-US" sz="1800" dirty="0"/>
          </a:p>
        </p:txBody>
      </p:sp>
      <p:sp>
        <p:nvSpPr>
          <p:cNvPr id="12" name="Plan body 2"/>
          <p:cNvSpPr txBox="1"/>
          <p:nvPr/>
        </p:nvSpPr>
        <p:spPr>
          <a:xfrm>
            <a:off x="3362249" y="3017520"/>
            <a:ext cx="2514600" cy="1097280"/>
          </a:xfrm>
          <a:prstGeom prst="rect">
            <a:avLst/>
          </a:prstGeom>
          <a:noFill/>
          <a:ln/>
        </p:spPr>
        <p:txBody>
          <a:bodyPr wrap="square" lIns="0" tIns="0" rIns="0" bIns="0" rtlCol="0" anchor="t"/>
          <a:lstStyle/>
          <a:p>
            <a:pPr indent="0" marL="0">
              <a:buNone/>
            </a:pPr>
            <a:r>
              <a:rPr lang="en-US" sz="1600" dirty="0">
                <a:solidFill>
                  <a:schemeClr val="tx1"/>
                </a:solidFill>
              </a:rPr>
              <a:t>Build and validate the score on your historical data.</a:t>
            </a:r>
            <a:endParaRPr lang="en-US" sz="1600" dirty="0"/>
          </a:p>
        </p:txBody>
      </p:sp>
      <p:sp>
        <p:nvSpPr>
          <p:cNvPr id="13" name="Plan circle 3"/>
          <p:cNvSpPr/>
          <p:nvPr/>
        </p:nvSpPr>
        <p:spPr>
          <a:xfrm>
            <a:off x="6175858" y="1783080"/>
            <a:ext cx="640080" cy="640080"/>
          </a:xfrm>
          <a:prstGeom prst="ellipse">
            <a:avLst/>
          </a:prstGeom>
          <a:solidFill>
            <a:schemeClr val="accent1"/>
          </a:solidFill>
          <a:ln w="12700">
            <a:solidFill>
              <a:schemeClr val="accent1"/>
            </a:solidFill>
            <a:prstDash val="solid"/>
          </a:ln>
        </p:spPr>
      </p:sp>
      <p:sp>
        <p:nvSpPr>
          <p:cNvPr id="14" name="Plan number 3"/>
          <p:cNvSpPr txBox="1"/>
          <p:nvPr/>
        </p:nvSpPr>
        <p:spPr>
          <a:xfrm>
            <a:off x="6175858" y="17830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5" name="Plan connector 3"/>
          <p:cNvSpPr/>
          <p:nvPr/>
        </p:nvSpPr>
        <p:spPr>
          <a:xfrm>
            <a:off x="6953098" y="2103120"/>
            <a:ext cx="1965960" cy="0"/>
          </a:xfrm>
          <a:prstGeom prst="line">
            <a:avLst/>
          </a:prstGeom>
          <a:noFill/>
          <a:ln w="25400">
            <a:solidFill>
              <a:schemeClr val="accent5"/>
            </a:solidFill>
            <a:prstDash val="dash"/>
          </a:ln>
        </p:spPr>
      </p:sp>
      <p:sp>
        <p:nvSpPr>
          <p:cNvPr id="16" name="Plan header 3"/>
          <p:cNvSpPr txBox="1"/>
          <p:nvPr/>
        </p:nvSpPr>
        <p:spPr>
          <a:xfrm>
            <a:off x="6175858" y="2606040"/>
            <a:ext cx="2560320" cy="365760"/>
          </a:xfrm>
          <a:prstGeom prst="rect">
            <a:avLst/>
          </a:prstGeom>
          <a:noFill/>
          <a:ln/>
        </p:spPr>
        <p:txBody>
          <a:bodyPr wrap="square" lIns="0" tIns="0" rIns="0" bIns="0" rtlCol="0" anchor="ctr"/>
          <a:lstStyle/>
          <a:p>
            <a:pPr indent="0" marL="0">
              <a:buNone/>
            </a:pPr>
            <a:r>
              <a:rPr lang="en-US" sz="1800" b="1" dirty="0">
                <a:solidFill>
                  <a:schemeClr val="accent1"/>
                </a:solidFill>
              </a:rPr>
              <a:t>Weeks 4–12</a:t>
            </a:r>
            <a:endParaRPr lang="en-US" sz="1800" dirty="0"/>
          </a:p>
        </p:txBody>
      </p:sp>
      <p:sp>
        <p:nvSpPr>
          <p:cNvPr id="17" name="Plan body 3"/>
          <p:cNvSpPr txBox="1"/>
          <p:nvPr/>
        </p:nvSpPr>
        <p:spPr>
          <a:xfrm>
            <a:off x="6175858" y="3017520"/>
            <a:ext cx="2514600" cy="1097280"/>
          </a:xfrm>
          <a:prstGeom prst="rect">
            <a:avLst/>
          </a:prstGeom>
          <a:noFill/>
          <a:ln/>
        </p:spPr>
        <p:txBody>
          <a:bodyPr wrap="square" lIns="0" tIns="0" rIns="0" bIns="0" rtlCol="0" anchor="t"/>
          <a:lstStyle/>
          <a:p>
            <a:pPr indent="0" marL="0">
              <a:buNone/>
            </a:pPr>
            <a:r>
              <a:rPr lang="en-US" sz="1600" dirty="0">
                <a:solidFill>
                  <a:schemeClr val="tx1"/>
                </a:solidFill>
              </a:rPr>
              <a:t>Run the pilot: half the team uses scores, half does not.</a:t>
            </a:r>
            <a:endParaRPr lang="en-US" sz="1600" dirty="0"/>
          </a:p>
        </p:txBody>
      </p:sp>
      <p:sp>
        <p:nvSpPr>
          <p:cNvPr id="18" name="Plan circle 4"/>
          <p:cNvSpPr/>
          <p:nvPr/>
        </p:nvSpPr>
        <p:spPr>
          <a:xfrm>
            <a:off x="8989466" y="1783080"/>
            <a:ext cx="640080" cy="640080"/>
          </a:xfrm>
          <a:prstGeom prst="ellipse">
            <a:avLst/>
          </a:prstGeom>
          <a:solidFill>
            <a:schemeClr val="accent1"/>
          </a:solidFill>
          <a:ln w="12700">
            <a:solidFill>
              <a:schemeClr val="accent1"/>
            </a:solidFill>
            <a:prstDash val="solid"/>
          </a:ln>
        </p:spPr>
      </p:sp>
      <p:sp>
        <p:nvSpPr>
          <p:cNvPr id="19" name="Plan number 4"/>
          <p:cNvSpPr txBox="1"/>
          <p:nvPr/>
        </p:nvSpPr>
        <p:spPr>
          <a:xfrm>
            <a:off x="8989466" y="17830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0" name="Plan header 4"/>
          <p:cNvSpPr txBox="1"/>
          <p:nvPr/>
        </p:nvSpPr>
        <p:spPr>
          <a:xfrm>
            <a:off x="8989466" y="2606040"/>
            <a:ext cx="2560320" cy="365760"/>
          </a:xfrm>
          <a:prstGeom prst="rect">
            <a:avLst/>
          </a:prstGeom>
          <a:noFill/>
          <a:ln/>
        </p:spPr>
        <p:txBody>
          <a:bodyPr wrap="square" lIns="0" tIns="0" rIns="0" bIns="0" rtlCol="0" anchor="ctr"/>
          <a:lstStyle/>
          <a:p>
            <a:pPr indent="0" marL="0">
              <a:buNone/>
            </a:pPr>
            <a:r>
              <a:rPr lang="en-US" sz="1800" b="1" dirty="0">
                <a:solidFill>
                  <a:schemeClr val="accent1"/>
                </a:solidFill>
              </a:rPr>
              <a:t>Week 12</a:t>
            </a:r>
            <a:endParaRPr lang="en-US" sz="1800" dirty="0"/>
          </a:p>
        </p:txBody>
      </p:sp>
      <p:sp>
        <p:nvSpPr>
          <p:cNvPr id="21" name="Plan body 4"/>
          <p:cNvSpPr txBox="1"/>
          <p:nvPr/>
        </p:nvSpPr>
        <p:spPr>
          <a:xfrm>
            <a:off x="8989466" y="3017520"/>
            <a:ext cx="2514600" cy="1097280"/>
          </a:xfrm>
          <a:prstGeom prst="rect">
            <a:avLst/>
          </a:prstGeom>
          <a:noFill/>
          <a:ln/>
        </p:spPr>
        <p:txBody>
          <a:bodyPr wrap="square" lIns="0" tIns="0" rIns="0" bIns="0" rtlCol="0" anchor="t"/>
          <a:lstStyle/>
          <a:p>
            <a:pPr indent="0" marL="0">
              <a:buNone/>
            </a:pPr>
            <a:r>
              <a:rPr lang="en-US" sz="1600" dirty="0">
                <a:solidFill>
                  <a:schemeClr val="tx1"/>
                </a:solidFill>
              </a:rPr>
              <a:t>Compare results and decide whether to scale up.</a:t>
            </a:r>
            <a:endParaRPr lang="en-US" sz="1600" dirty="0"/>
          </a:p>
        </p:txBody>
      </p:sp>
      <p:sp>
        <p:nvSpPr>
          <p:cNvPr id="22" name="Needs header"/>
          <p:cNvSpPr txBox="1"/>
          <p:nvPr/>
        </p:nvSpPr>
        <p:spPr>
          <a:xfrm>
            <a:off x="548640" y="4297680"/>
            <a:ext cx="7315200" cy="411480"/>
          </a:xfrm>
          <a:prstGeom prst="rect">
            <a:avLst/>
          </a:prstGeom>
          <a:noFill/>
          <a:ln/>
        </p:spPr>
        <p:txBody>
          <a:bodyPr wrap="square" lIns="0" tIns="0" rIns="0" bIns="0" rtlCol="0" anchor="ctr"/>
          <a:lstStyle/>
          <a:p>
            <a:pPr indent="0" marL="0">
              <a:buNone/>
            </a:pPr>
            <a:r>
              <a:rPr lang="en-US" sz="2000" b="1" dirty="0">
                <a:solidFill>
                  <a:schemeClr val="tx2"/>
                </a:solidFill>
              </a:rPr>
              <a:t>What we need from you</a:t>
            </a:r>
            <a:endParaRPr lang="en-US" sz="2000" dirty="0"/>
          </a:p>
        </p:txBody>
      </p:sp>
      <p:sp>
        <p:nvSpPr>
          <p:cNvPr id="23" name="Need card 1"/>
          <p:cNvSpPr/>
          <p:nvPr/>
        </p:nvSpPr>
        <p:spPr>
          <a:xfrm>
            <a:off x="548640" y="4846320"/>
            <a:ext cx="2651760" cy="868680"/>
          </a:xfrm>
          <a:prstGeom prst="roundRect">
            <a:avLst>
              <a:gd name="adj" fmla="val 12632"/>
            </a:avLst>
          </a:prstGeom>
          <a:solidFill>
            <a:schemeClr val="bg2"/>
          </a:solidFill>
          <a:ln w="12700">
            <a:solidFill>
              <a:schemeClr val="bg2"/>
            </a:solidFill>
            <a:prstDash val="solid"/>
          </a:ln>
        </p:spPr>
      </p:sp>
      <p:sp>
        <p:nvSpPr>
          <p:cNvPr id="24" name="Need 1"/>
          <p:cNvSpPr txBox="1"/>
          <p:nvPr/>
        </p:nvSpPr>
        <p:spPr>
          <a:xfrm>
            <a:off x="777240" y="4846320"/>
            <a:ext cx="2240280" cy="868680"/>
          </a:xfrm>
          <a:prstGeom prst="rect">
            <a:avLst/>
          </a:prstGeom>
          <a:noFill/>
          <a:ln/>
        </p:spPr>
        <p:txBody>
          <a:bodyPr wrap="square" lIns="0" tIns="0" rIns="0" bIns="0" rtlCol="0" anchor="ctr"/>
          <a:lstStyle/>
          <a:p>
            <a:pPr indent="0" marL="0">
              <a:buNone/>
            </a:pPr>
            <a:r>
              <a:rPr lang="en-US" sz="1600" b="1" dirty="0">
                <a:solidFill>
                  <a:schemeClr val="tx2"/>
                </a:solidFill>
              </a:rPr>
              <a:t>A clear definition of success</a:t>
            </a:r>
            <a:endParaRPr lang="en-US" sz="1600" dirty="0"/>
          </a:p>
        </p:txBody>
      </p:sp>
      <p:sp>
        <p:nvSpPr>
          <p:cNvPr id="25" name="Need card 2"/>
          <p:cNvSpPr/>
          <p:nvPr/>
        </p:nvSpPr>
        <p:spPr>
          <a:xfrm>
            <a:off x="3362249" y="4846320"/>
            <a:ext cx="2651760" cy="868680"/>
          </a:xfrm>
          <a:prstGeom prst="roundRect">
            <a:avLst>
              <a:gd name="adj" fmla="val 12632"/>
            </a:avLst>
          </a:prstGeom>
          <a:solidFill>
            <a:schemeClr val="bg2"/>
          </a:solidFill>
          <a:ln w="12700">
            <a:solidFill>
              <a:schemeClr val="bg2"/>
            </a:solidFill>
            <a:prstDash val="solid"/>
          </a:ln>
        </p:spPr>
      </p:sp>
      <p:sp>
        <p:nvSpPr>
          <p:cNvPr id="26" name="Need 2"/>
          <p:cNvSpPr txBox="1"/>
          <p:nvPr/>
        </p:nvSpPr>
        <p:spPr>
          <a:xfrm>
            <a:off x="3590849" y="4846320"/>
            <a:ext cx="2240280" cy="868680"/>
          </a:xfrm>
          <a:prstGeom prst="rect">
            <a:avLst/>
          </a:prstGeom>
          <a:noFill/>
          <a:ln/>
        </p:spPr>
        <p:txBody>
          <a:bodyPr wrap="square" lIns="0" tIns="0" rIns="0" bIns="0" rtlCol="0" anchor="ctr"/>
          <a:lstStyle/>
          <a:p>
            <a:pPr indent="0" marL="0">
              <a:buNone/>
            </a:pPr>
            <a:r>
              <a:rPr lang="en-US" sz="1600" b="1" dirty="0">
                <a:solidFill>
                  <a:schemeClr val="tx2"/>
                </a:solidFill>
              </a:rPr>
              <a:t>2–3 years of past records</a:t>
            </a:r>
            <a:endParaRPr lang="en-US" sz="1600" dirty="0"/>
          </a:p>
        </p:txBody>
      </p:sp>
      <p:sp>
        <p:nvSpPr>
          <p:cNvPr id="27" name="Need card 3"/>
          <p:cNvSpPr/>
          <p:nvPr/>
        </p:nvSpPr>
        <p:spPr>
          <a:xfrm>
            <a:off x="6175858" y="4846320"/>
            <a:ext cx="2651760" cy="868680"/>
          </a:xfrm>
          <a:prstGeom prst="roundRect">
            <a:avLst>
              <a:gd name="adj" fmla="val 12632"/>
            </a:avLst>
          </a:prstGeom>
          <a:solidFill>
            <a:schemeClr val="bg2"/>
          </a:solidFill>
          <a:ln w="12700">
            <a:solidFill>
              <a:schemeClr val="bg2"/>
            </a:solidFill>
            <a:prstDash val="solid"/>
          </a:ln>
        </p:spPr>
      </p:sp>
      <p:sp>
        <p:nvSpPr>
          <p:cNvPr id="28" name="Need 3"/>
          <p:cNvSpPr txBox="1"/>
          <p:nvPr/>
        </p:nvSpPr>
        <p:spPr>
          <a:xfrm>
            <a:off x="6404458" y="4846320"/>
            <a:ext cx="2240280" cy="868680"/>
          </a:xfrm>
          <a:prstGeom prst="rect">
            <a:avLst/>
          </a:prstGeom>
          <a:noFill/>
          <a:ln/>
        </p:spPr>
        <p:txBody>
          <a:bodyPr wrap="square" lIns="0" tIns="0" rIns="0" bIns="0" rtlCol="0" anchor="ctr"/>
          <a:lstStyle/>
          <a:p>
            <a:pPr indent="0" marL="0">
              <a:buNone/>
            </a:pPr>
            <a:r>
              <a:rPr lang="en-US" sz="1600" b="1" dirty="0">
                <a:solidFill>
                  <a:schemeClr val="tx2"/>
                </a:solidFill>
              </a:rPr>
              <a:t>One team to run the pilot</a:t>
            </a:r>
            <a:endParaRPr lang="en-US" sz="1600" dirty="0"/>
          </a:p>
        </p:txBody>
      </p:sp>
      <p:sp>
        <p:nvSpPr>
          <p:cNvPr id="29" name="Need card 4"/>
          <p:cNvSpPr/>
          <p:nvPr/>
        </p:nvSpPr>
        <p:spPr>
          <a:xfrm>
            <a:off x="8989466" y="4846320"/>
            <a:ext cx="2651760" cy="868680"/>
          </a:xfrm>
          <a:prstGeom prst="roundRect">
            <a:avLst>
              <a:gd name="adj" fmla="val 12632"/>
            </a:avLst>
          </a:prstGeom>
          <a:solidFill>
            <a:schemeClr val="bg2"/>
          </a:solidFill>
          <a:ln w="12700">
            <a:solidFill>
              <a:schemeClr val="bg2"/>
            </a:solidFill>
            <a:prstDash val="solid"/>
          </a:ln>
        </p:spPr>
      </p:sp>
      <p:sp>
        <p:nvSpPr>
          <p:cNvPr id="30" name="Need 4"/>
          <p:cNvSpPr txBox="1"/>
          <p:nvPr/>
        </p:nvSpPr>
        <p:spPr>
          <a:xfrm>
            <a:off x="9218066" y="4846320"/>
            <a:ext cx="2240280" cy="868680"/>
          </a:xfrm>
          <a:prstGeom prst="rect">
            <a:avLst/>
          </a:prstGeom>
          <a:noFill/>
          <a:ln/>
        </p:spPr>
        <p:txBody>
          <a:bodyPr wrap="square" lIns="0" tIns="0" rIns="0" bIns="0" rtlCol="0" anchor="ctr"/>
          <a:lstStyle/>
          <a:p>
            <a:pPr indent="0" marL="0">
              <a:buNone/>
            </a:pPr>
            <a:r>
              <a:rPr lang="en-US" sz="1600" b="1" dirty="0">
                <a:solidFill>
                  <a:schemeClr val="tx2"/>
                </a:solidFill>
              </a:rPr>
              <a:t>A named point person</a:t>
            </a:r>
            <a:endParaRPr lang="en-US" sz="16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731520" y="548640"/>
            <a:ext cx="10698480" cy="1097280"/>
          </a:xfrm>
          <a:prstGeom prst="rect">
            <a:avLst/>
          </a:prstGeom>
          <a:noFill/>
          <a:ln/>
        </p:spPr>
        <p:txBody>
          <a:bodyPr wrap="square" lIns="0" tIns="0" rIns="0" bIns="0" rtlCol="0" anchor="ctr"/>
          <a:lstStyle/>
          <a:p>
            <a:pPr algn="l" indent="0" marL="0">
              <a:buNone/>
            </a:pPr>
            <a:r>
              <a:rPr lang="en-US" sz="4000" b="1" dirty="0">
                <a:solidFill>
                  <a:schemeClr val="bg1"/>
                </a:solidFill>
              </a:rPr>
              <a:t>Key takeaways</a:t>
            </a:r>
            <a:endParaRPr lang="en-US" sz="4000" dirty="0"/>
          </a:p>
        </p:txBody>
      </p:sp>
      <p:sp>
        <p:nvSpPr>
          <p:cNvPr id="3" name="Takeaway circle 1"/>
          <p:cNvSpPr/>
          <p:nvPr/>
        </p:nvSpPr>
        <p:spPr>
          <a:xfrm>
            <a:off x="731520" y="2286000"/>
            <a:ext cx="822960" cy="822960"/>
          </a:xfrm>
          <a:prstGeom prst="ellipse">
            <a:avLst/>
          </a:prstGeom>
          <a:solidFill>
            <a:schemeClr val="accent1"/>
          </a:solidFill>
          <a:ln w="12700">
            <a:solidFill>
              <a:schemeClr val="accent1"/>
            </a:solidFill>
            <a:prstDash val="solid"/>
          </a:ln>
        </p:spPr>
      </p:sp>
      <p:sp>
        <p:nvSpPr>
          <p:cNvPr id="4" name="Takeaway number 1"/>
          <p:cNvSpPr txBox="1"/>
          <p:nvPr/>
        </p:nvSpPr>
        <p:spPr>
          <a:xfrm>
            <a:off x="731520" y="228600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rPr>
              <a:t>1</a:t>
            </a:r>
            <a:endParaRPr lang="en-US" sz="2800" dirty="0"/>
          </a:p>
        </p:txBody>
      </p:sp>
      <p:sp>
        <p:nvSpPr>
          <p:cNvPr id="5" name="Takeaway 1"/>
          <p:cNvSpPr txBox="1"/>
          <p:nvPr/>
        </p:nvSpPr>
        <p:spPr>
          <a:xfrm>
            <a:off x="1920240" y="2286000"/>
            <a:ext cx="9509760" cy="822960"/>
          </a:xfrm>
          <a:prstGeom prst="rect">
            <a:avLst/>
          </a:prstGeom>
          <a:noFill/>
          <a:ln/>
        </p:spPr>
        <p:txBody>
          <a:bodyPr wrap="square" lIns="0" tIns="0" rIns="0" bIns="0" rtlCol="0" anchor="ctr"/>
          <a:lstStyle/>
          <a:p>
            <a:pPr indent="0" marL="0">
              <a:buNone/>
            </a:pPr>
            <a:r>
              <a:rPr lang="en-US" sz="2800" b="1" dirty="0">
                <a:solidFill>
                  <a:schemeClr val="bg1"/>
                </a:solidFill>
              </a:rPr>
              <a:t>Scores rank; people decide.</a:t>
            </a:r>
            <a:endParaRPr lang="en-US" sz="2800" dirty="0"/>
          </a:p>
        </p:txBody>
      </p:sp>
      <p:sp>
        <p:nvSpPr>
          <p:cNvPr id="6" name="Takeaway circle 2"/>
          <p:cNvSpPr/>
          <p:nvPr/>
        </p:nvSpPr>
        <p:spPr>
          <a:xfrm>
            <a:off x="731520" y="3566160"/>
            <a:ext cx="822960" cy="822960"/>
          </a:xfrm>
          <a:prstGeom prst="ellipse">
            <a:avLst/>
          </a:prstGeom>
          <a:solidFill>
            <a:schemeClr val="accent1"/>
          </a:solidFill>
          <a:ln w="12700">
            <a:solidFill>
              <a:schemeClr val="accent1"/>
            </a:solidFill>
            <a:prstDash val="solid"/>
          </a:ln>
        </p:spPr>
      </p:sp>
      <p:sp>
        <p:nvSpPr>
          <p:cNvPr id="7" name="Takeaway number 2"/>
          <p:cNvSpPr txBox="1"/>
          <p:nvPr/>
        </p:nvSpPr>
        <p:spPr>
          <a:xfrm>
            <a:off x="731520" y="356616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rPr>
              <a:t>2</a:t>
            </a:r>
            <a:endParaRPr lang="en-US" sz="2800" dirty="0"/>
          </a:p>
        </p:txBody>
      </p:sp>
      <p:sp>
        <p:nvSpPr>
          <p:cNvPr id="8" name="Takeaway 2"/>
          <p:cNvSpPr txBox="1"/>
          <p:nvPr/>
        </p:nvSpPr>
        <p:spPr>
          <a:xfrm>
            <a:off x="1920240" y="3566160"/>
            <a:ext cx="9509760" cy="822960"/>
          </a:xfrm>
          <a:prstGeom prst="rect">
            <a:avLst/>
          </a:prstGeom>
          <a:noFill/>
          <a:ln/>
        </p:spPr>
        <p:txBody>
          <a:bodyPr wrap="square" lIns="0" tIns="0" rIns="0" bIns="0" rtlCol="0" anchor="ctr"/>
          <a:lstStyle/>
          <a:p>
            <a:pPr indent="0" marL="0">
              <a:buNone/>
            </a:pPr>
            <a:r>
              <a:rPr lang="en-US" sz="2800" b="1" dirty="0">
                <a:solidFill>
                  <a:schemeClr val="bg1"/>
                </a:solidFill>
              </a:rPr>
              <a:t>Check the data for shortcuts before trusting any number.</a:t>
            </a:r>
            <a:endParaRPr lang="en-US" sz="2800" dirty="0"/>
          </a:p>
        </p:txBody>
      </p:sp>
      <p:sp>
        <p:nvSpPr>
          <p:cNvPr id="9" name="Takeaway circle 3"/>
          <p:cNvSpPr/>
          <p:nvPr/>
        </p:nvSpPr>
        <p:spPr>
          <a:xfrm>
            <a:off x="731520" y="4846320"/>
            <a:ext cx="822960" cy="822960"/>
          </a:xfrm>
          <a:prstGeom prst="ellipse">
            <a:avLst/>
          </a:prstGeom>
          <a:solidFill>
            <a:schemeClr val="accent1"/>
          </a:solidFill>
          <a:ln w="12700">
            <a:solidFill>
              <a:schemeClr val="accent1"/>
            </a:solidFill>
            <a:prstDash val="solid"/>
          </a:ln>
        </p:spPr>
      </p:sp>
      <p:sp>
        <p:nvSpPr>
          <p:cNvPr id="10" name="Takeaway number 3"/>
          <p:cNvSpPr txBox="1"/>
          <p:nvPr/>
        </p:nvSpPr>
        <p:spPr>
          <a:xfrm>
            <a:off x="731520" y="484632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rPr>
              <a:t>3</a:t>
            </a:r>
            <a:endParaRPr lang="en-US" sz="2800" dirty="0"/>
          </a:p>
        </p:txBody>
      </p:sp>
      <p:sp>
        <p:nvSpPr>
          <p:cNvPr id="11" name="Takeaway 3"/>
          <p:cNvSpPr txBox="1"/>
          <p:nvPr/>
        </p:nvSpPr>
        <p:spPr>
          <a:xfrm>
            <a:off x="1920240" y="4846320"/>
            <a:ext cx="9509760" cy="822960"/>
          </a:xfrm>
          <a:prstGeom prst="rect">
            <a:avLst/>
          </a:prstGeom>
          <a:noFill/>
          <a:ln/>
        </p:spPr>
        <p:txBody>
          <a:bodyPr wrap="square" lIns="0" tIns="0" rIns="0" bIns="0" rtlCol="0" anchor="ctr"/>
          <a:lstStyle/>
          <a:p>
            <a:pPr indent="0" marL="0">
              <a:buNone/>
            </a:pPr>
            <a:r>
              <a:rPr lang="en-US" sz="2800" b="1" dirty="0">
                <a:solidFill>
                  <a:schemeClr val="bg1"/>
                </a:solidFill>
              </a:rPr>
              <a:t>Pilot first, then scale.</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188720"/>
          </a:xfrm>
          <a:prstGeom prst="rect">
            <a:avLst/>
          </a:prstGeom>
          <a:noFill/>
          <a:ln/>
        </p:spPr>
        <p:txBody>
          <a:bodyPr wrap="square" lIns="0" tIns="0" rIns="0" bIns="0" rtlCol="0" anchor="ctr"/>
          <a:lstStyle/>
          <a:p>
            <a:pPr algn="l" indent="0" marL="0">
              <a:buNone/>
            </a:pPr>
            <a:r>
              <a:rPr lang="en-US" sz="3600" b="1" dirty="0">
                <a:solidFill>
                  <a:schemeClr val="tx2"/>
                </a:solidFill>
              </a:rPr>
              <a:t>Appendix: how the results were validated</a:t>
            </a:r>
            <a:endParaRPr lang="en-US" sz="3600" dirty="0"/>
          </a:p>
        </p:txBody>
      </p:sp>
      <p:graphicFrame>
        <p:nvGraphicFramePr>
          <p:cNvPr id="13" name="Results table"/>
          <p:cNvGraphicFramePr>
            <a:graphicFrameLocks noGrp="1"/>
          </p:cNvGraphicFramePr>
          <p:nvPr>
            <p:extLst>
              <p:ext uri="{D42A27DB-BD31-4B8C-83A1-F6EECF244321}">
                <p14:modId xmlns:p14="http://schemas.microsoft.com/office/powerpoint/2010/main" val="1579011935"/>
              </p:ext>
            </p:extLst>
          </p:nvPr>
        </p:nvGraphicFramePr>
        <p:xfrm>
          <a:off x="548640" y="1737360"/>
          <a:ext cx="5669280" cy="914400"/>
        </p:xfrm>
        <a:graphic>
          <a:graphicData uri="http://schemas.openxmlformats.org/drawingml/2006/table">
            <a:tbl>
              <a:tblPr/>
              <a:tblGrid>
                <a:gridCol w="2651760"/>
                <a:gridCol w="1645920"/>
                <a:gridCol w="1371600"/>
              </a:tblGrid>
              <a:tr h="640080">
                <a:tc>
                  <a:txBody>
                    <a:bodyPr/>
                    <a:lstStyle/>
                    <a:p>
                      <a:pPr algn="l" indent="0" marL="0">
                        <a:buNone/>
                      </a:pPr>
                      <a:r>
                        <a:rPr lang="en-US" sz="1500" b="1" dirty="0">
                          <a:solidFill>
                            <a:srgbClr val="FFFFFF"/>
                          </a:solidFill>
                        </a:rPr>
                        <a:t>Scenario (cross-validated AUC)</a:t>
                      </a:r>
                      <a:endParaRPr lang="en-US" sz="1500" dirty="0"/>
                    </a:p>
                  </a:txBody>
                  <a:tcPr marL="137160" marR="137160" marT="0" marB="0" anchor="ctr">
                    <a:lnL w="9525" cap="flat" cmpd="sng" algn="ctr">
                      <a:solidFill>
                        <a:srgbClr val="DCE6E0"/>
                      </a:solidFill>
                      <a:prstDash val="solid"/>
                      <a:round/>
                      <a:headEnd type="none" w="med" len="med"/>
                      <a:tailEnd type="none" w="med" len="med"/>
                    </a:lnL>
                    <a:lnR w="9525" cap="flat" cmpd="sng" algn="ctr">
                      <a:solidFill>
                        <a:srgbClr val="DCE6E0"/>
                      </a:solidFill>
                      <a:prstDash val="solid"/>
                      <a:round/>
                      <a:headEnd type="none" w="med" len="med"/>
                      <a:tailEnd type="none" w="med" len="med"/>
                    </a:lnR>
                    <a:lnT w="9525" cap="flat" cmpd="sng" algn="ctr">
                      <a:solidFill>
                        <a:srgbClr val="DCE6E0"/>
                      </a:solidFill>
                      <a:prstDash val="solid"/>
                      <a:round/>
                      <a:headEnd type="none" w="med" len="med"/>
                      <a:tailEnd type="none" w="med" len="med"/>
                    </a:lnT>
                    <a:lnB w="9525" cap="flat" cmpd="sng" algn="ctr">
                      <a:solidFill>
                        <a:srgbClr val="DCE6E0"/>
                      </a:solidFill>
                      <a:prstDash val="solid"/>
                      <a:round/>
                      <a:headEnd type="none" w="med" len="med"/>
                      <a:tailEnd type="none" w="med" len="med"/>
                    </a:lnB>
                    <a:solidFill>
                      <a:srgbClr val="0F3D2E"/>
                    </a:solidFill>
                  </a:tcPr>
                </a:tc>
                <a:tc>
                  <a:txBody>
                    <a:bodyPr/>
                    <a:lstStyle/>
                    <a:p>
                      <a:pPr algn="ctr" indent="0" marL="0">
                        <a:buNone/>
                      </a:pPr>
                      <a:r>
                        <a:rPr lang="en-US" sz="1500" b="1" dirty="0">
                          <a:solidFill>
                            <a:srgbClr val="FFFFFF"/>
                          </a:solidFill>
                        </a:rPr>
                        <a:t>Best single model</a:t>
                      </a:r>
                      <a:endParaRPr lang="en-US" sz="1500" dirty="0"/>
                    </a:p>
                  </a:txBody>
                  <a:tcPr marL="137160" marR="137160" marT="0" marB="0" anchor="ctr">
                    <a:lnL w="9525" cap="flat" cmpd="sng" algn="ctr">
                      <a:solidFill>
                        <a:srgbClr val="DCE6E0"/>
                      </a:solidFill>
                      <a:prstDash val="solid"/>
                      <a:round/>
                      <a:headEnd type="none" w="med" len="med"/>
                      <a:tailEnd type="none" w="med" len="med"/>
                    </a:lnL>
                    <a:lnR w="9525" cap="flat" cmpd="sng" algn="ctr">
                      <a:solidFill>
                        <a:srgbClr val="DCE6E0"/>
                      </a:solidFill>
                      <a:prstDash val="solid"/>
                      <a:round/>
                      <a:headEnd type="none" w="med" len="med"/>
                      <a:tailEnd type="none" w="med" len="med"/>
                    </a:lnR>
                    <a:lnT w="9525" cap="flat" cmpd="sng" algn="ctr">
                      <a:solidFill>
                        <a:srgbClr val="DCE6E0"/>
                      </a:solidFill>
                      <a:prstDash val="solid"/>
                      <a:round/>
                      <a:headEnd type="none" w="med" len="med"/>
                      <a:tailEnd type="none" w="med" len="med"/>
                    </a:lnT>
                    <a:lnB w="9525" cap="flat" cmpd="sng" algn="ctr">
                      <a:solidFill>
                        <a:srgbClr val="DCE6E0"/>
                      </a:solidFill>
                      <a:prstDash val="solid"/>
                      <a:round/>
                      <a:headEnd type="none" w="med" len="med"/>
                      <a:tailEnd type="none" w="med" len="med"/>
                    </a:lnB>
                    <a:solidFill>
                      <a:srgbClr val="0F3D2E"/>
                    </a:solidFill>
                  </a:tcPr>
                </a:tc>
                <a:tc>
                  <a:txBody>
                    <a:bodyPr/>
                    <a:lstStyle/>
                    <a:p>
                      <a:pPr algn="ctr" indent="0" marL="0">
                        <a:buNone/>
                      </a:pPr>
                      <a:r>
                        <a:rPr lang="en-US" sz="1500" b="1" dirty="0">
                          <a:solidFill>
                            <a:srgbClr val="FFFFFF"/>
                          </a:solidFill>
                        </a:rPr>
                        <a:t>Blend</a:t>
                      </a:r>
                      <a:endParaRPr lang="en-US" sz="1500" dirty="0"/>
                    </a:p>
                  </a:txBody>
                  <a:tcPr marL="137160" marR="137160" marT="0" marB="0" anchor="ctr">
                    <a:lnL w="9525" cap="flat" cmpd="sng" algn="ctr">
                      <a:solidFill>
                        <a:srgbClr val="DCE6E0"/>
                      </a:solidFill>
                      <a:prstDash val="solid"/>
                      <a:round/>
                      <a:headEnd type="none" w="med" len="med"/>
                      <a:tailEnd type="none" w="med" len="med"/>
                    </a:lnL>
                    <a:lnR w="9525" cap="flat" cmpd="sng" algn="ctr">
                      <a:solidFill>
                        <a:srgbClr val="DCE6E0"/>
                      </a:solidFill>
                      <a:prstDash val="solid"/>
                      <a:round/>
                      <a:headEnd type="none" w="med" len="med"/>
                      <a:tailEnd type="none" w="med" len="med"/>
                    </a:lnR>
                    <a:lnT w="9525" cap="flat" cmpd="sng" algn="ctr">
                      <a:solidFill>
                        <a:srgbClr val="DCE6E0"/>
                      </a:solidFill>
                      <a:prstDash val="solid"/>
                      <a:round/>
                      <a:headEnd type="none" w="med" len="med"/>
                      <a:tailEnd type="none" w="med" len="med"/>
                    </a:lnT>
                    <a:lnB w="9525" cap="flat" cmpd="sng" algn="ctr">
                      <a:solidFill>
                        <a:srgbClr val="DCE6E0"/>
                      </a:solidFill>
                      <a:prstDash val="solid"/>
                      <a:round/>
                      <a:headEnd type="none" w="med" len="med"/>
                      <a:tailEnd type="none" w="med" len="med"/>
                    </a:lnB>
                    <a:solidFill>
                      <a:srgbClr val="0F3D2E"/>
                    </a:solidFill>
                  </a:tcPr>
                </a:tc>
              </a:tr>
              <a:tr h="731520">
                <a:tc>
                  <a:txBody>
                    <a:bodyPr/>
                    <a:lstStyle/>
                    <a:p>
                      <a:pPr algn="l" indent="0" marL="0">
                        <a:buNone/>
                      </a:pPr>
                      <a:r>
                        <a:rPr lang="en-US" sz="1600" dirty="0">
                          <a:solidFill>
                            <a:srgbClr val="17231D"/>
                          </a:solidFill>
                        </a:rPr>
                        <a:t>A. All data as provided</a:t>
                      </a:r>
                      <a:endParaRPr lang="en-US" sz="1600" dirty="0"/>
                    </a:p>
                  </a:txBody>
                  <a:tcPr marL="137160" marR="137160" marT="0" marB="0" anchor="ctr">
                    <a:lnL w="9525" cap="flat" cmpd="sng" algn="ctr">
                      <a:solidFill>
                        <a:srgbClr val="DCE6E0"/>
                      </a:solidFill>
                      <a:prstDash val="solid"/>
                      <a:round/>
                      <a:headEnd type="none" w="med" len="med"/>
                      <a:tailEnd type="none" w="med" len="med"/>
                    </a:lnL>
                    <a:lnR w="9525" cap="flat" cmpd="sng" algn="ctr">
                      <a:solidFill>
                        <a:srgbClr val="DCE6E0"/>
                      </a:solidFill>
                      <a:prstDash val="solid"/>
                      <a:round/>
                      <a:headEnd type="none" w="med" len="med"/>
                      <a:tailEnd type="none" w="med" len="med"/>
                    </a:lnR>
                    <a:lnT w="9525" cap="flat" cmpd="sng" algn="ctr">
                      <a:solidFill>
                        <a:srgbClr val="DCE6E0"/>
                      </a:solidFill>
                      <a:prstDash val="solid"/>
                      <a:round/>
                      <a:headEnd type="none" w="med" len="med"/>
                      <a:tailEnd type="none" w="med" len="med"/>
                    </a:lnT>
                    <a:lnB w="9525" cap="flat" cmpd="sng" algn="ctr">
                      <a:solidFill>
                        <a:srgbClr val="DCE6E0"/>
                      </a:solidFill>
                      <a:prstDash val="solid"/>
                      <a:round/>
                      <a:headEnd type="none" w="med" len="med"/>
                      <a:tailEnd type="none" w="med" len="med"/>
                    </a:lnB>
                    <a:solidFill>
                      <a:srgbClr val="EAF3EE"/>
                    </a:solidFill>
                  </a:tcPr>
                </a:tc>
                <a:tc>
                  <a:txBody>
                    <a:bodyPr/>
                    <a:lstStyle/>
                    <a:p>
                      <a:pPr algn="ctr" indent="0" marL="0">
                        <a:buNone/>
                      </a:pPr>
                      <a:r>
                        <a:rPr lang="en-US" sz="1600" dirty="0">
                          <a:solidFill>
                            <a:srgbClr val="17231D"/>
                          </a:solidFill>
                        </a:rPr>
                        <a:t>0.840</a:t>
                      </a:r>
                      <a:endParaRPr lang="en-US" sz="1600" dirty="0"/>
                    </a:p>
                  </a:txBody>
                  <a:tcPr marL="137160" marR="137160" marT="0" marB="0" anchor="ctr">
                    <a:lnL w="9525" cap="flat" cmpd="sng" algn="ctr">
                      <a:solidFill>
                        <a:srgbClr val="DCE6E0"/>
                      </a:solidFill>
                      <a:prstDash val="solid"/>
                      <a:round/>
                      <a:headEnd type="none" w="med" len="med"/>
                      <a:tailEnd type="none" w="med" len="med"/>
                    </a:lnL>
                    <a:lnR w="9525" cap="flat" cmpd="sng" algn="ctr">
                      <a:solidFill>
                        <a:srgbClr val="DCE6E0"/>
                      </a:solidFill>
                      <a:prstDash val="solid"/>
                      <a:round/>
                      <a:headEnd type="none" w="med" len="med"/>
                      <a:tailEnd type="none" w="med" len="med"/>
                    </a:lnR>
                    <a:lnT w="9525" cap="flat" cmpd="sng" algn="ctr">
                      <a:solidFill>
                        <a:srgbClr val="DCE6E0"/>
                      </a:solidFill>
                      <a:prstDash val="solid"/>
                      <a:round/>
                      <a:headEnd type="none" w="med" len="med"/>
                      <a:tailEnd type="none" w="med" len="med"/>
                    </a:lnT>
                    <a:lnB w="9525" cap="flat" cmpd="sng" algn="ctr">
                      <a:solidFill>
                        <a:srgbClr val="DCE6E0"/>
                      </a:solidFill>
                      <a:prstDash val="solid"/>
                      <a:round/>
                      <a:headEnd type="none" w="med" len="med"/>
                      <a:tailEnd type="none" w="med" len="med"/>
                    </a:lnB>
                    <a:solidFill>
                      <a:srgbClr val="EAF3EE"/>
                    </a:solidFill>
                  </a:tcPr>
                </a:tc>
                <a:tc>
                  <a:txBody>
                    <a:bodyPr/>
                    <a:lstStyle/>
                    <a:p>
                      <a:pPr algn="ctr" indent="0" marL="0">
                        <a:buNone/>
                      </a:pPr>
                      <a:r>
                        <a:rPr lang="en-US" sz="1600" b="1" dirty="0">
                          <a:solidFill>
                            <a:srgbClr val="17231D"/>
                          </a:solidFill>
                        </a:rPr>
                        <a:t>0.842</a:t>
                      </a:r>
                      <a:endParaRPr lang="en-US" sz="1600" dirty="0"/>
                    </a:p>
                  </a:txBody>
                  <a:tcPr marL="137160" marR="137160" marT="0" marB="0" anchor="ctr">
                    <a:lnL w="9525" cap="flat" cmpd="sng" algn="ctr">
                      <a:solidFill>
                        <a:srgbClr val="DCE6E0"/>
                      </a:solidFill>
                      <a:prstDash val="solid"/>
                      <a:round/>
                      <a:headEnd type="none" w="med" len="med"/>
                      <a:tailEnd type="none" w="med" len="med"/>
                    </a:lnL>
                    <a:lnR w="9525" cap="flat" cmpd="sng" algn="ctr">
                      <a:solidFill>
                        <a:srgbClr val="DCE6E0"/>
                      </a:solidFill>
                      <a:prstDash val="solid"/>
                      <a:round/>
                      <a:headEnd type="none" w="med" len="med"/>
                      <a:tailEnd type="none" w="med" len="med"/>
                    </a:lnR>
                    <a:lnT w="9525" cap="flat" cmpd="sng" algn="ctr">
                      <a:solidFill>
                        <a:srgbClr val="DCE6E0"/>
                      </a:solidFill>
                      <a:prstDash val="solid"/>
                      <a:round/>
                      <a:headEnd type="none" w="med" len="med"/>
                      <a:tailEnd type="none" w="med" len="med"/>
                    </a:lnT>
                    <a:lnB w="9525" cap="flat" cmpd="sng" algn="ctr">
                      <a:solidFill>
                        <a:srgbClr val="DCE6E0"/>
                      </a:solidFill>
                      <a:prstDash val="solid"/>
                      <a:round/>
                      <a:headEnd type="none" w="med" len="med"/>
                      <a:tailEnd type="none" w="med" len="med"/>
                    </a:lnB>
                    <a:solidFill>
                      <a:srgbClr val="EAF3EE"/>
                    </a:solidFill>
                  </a:tcPr>
                </a:tc>
              </a:tr>
              <a:tr h="731520">
                <a:tc>
                  <a:txBody>
                    <a:bodyPr/>
                    <a:lstStyle/>
                    <a:p>
                      <a:pPr algn="l" indent="0" marL="0">
                        <a:buNone/>
                      </a:pPr>
                      <a:r>
                        <a:rPr lang="en-US" sz="1600" dirty="0">
                          <a:solidFill>
                            <a:srgbClr val="17231D"/>
                          </a:solidFill>
                        </a:rPr>
                        <a:t>B. Age kept, shortcut removed</a:t>
                      </a:r>
                      <a:endParaRPr lang="en-US" sz="1600" dirty="0"/>
                    </a:p>
                  </a:txBody>
                  <a:tcPr marL="137160" marR="137160" marT="0" marB="0" anchor="ctr">
                    <a:lnL w="9525" cap="flat" cmpd="sng" algn="ctr">
                      <a:solidFill>
                        <a:srgbClr val="DCE6E0"/>
                      </a:solidFill>
                      <a:prstDash val="solid"/>
                      <a:round/>
                      <a:headEnd type="none" w="med" len="med"/>
                      <a:tailEnd type="none" w="med" len="med"/>
                    </a:lnL>
                    <a:lnR w="9525" cap="flat" cmpd="sng" algn="ctr">
                      <a:solidFill>
                        <a:srgbClr val="DCE6E0"/>
                      </a:solidFill>
                      <a:prstDash val="solid"/>
                      <a:round/>
                      <a:headEnd type="none" w="med" len="med"/>
                      <a:tailEnd type="none" w="med" len="med"/>
                    </a:lnR>
                    <a:lnT w="9525" cap="flat" cmpd="sng" algn="ctr">
                      <a:solidFill>
                        <a:srgbClr val="DCE6E0"/>
                      </a:solidFill>
                      <a:prstDash val="solid"/>
                      <a:round/>
                      <a:headEnd type="none" w="med" len="med"/>
                      <a:tailEnd type="none" w="med" len="med"/>
                    </a:lnT>
                    <a:lnB w="9525" cap="flat" cmpd="sng" algn="ctr">
                      <a:solidFill>
                        <a:srgbClr val="DCE6E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7231D"/>
                          </a:solidFill>
                        </a:rPr>
                        <a:t>0.767</a:t>
                      </a:r>
                      <a:endParaRPr lang="en-US" sz="1600" dirty="0"/>
                    </a:p>
                  </a:txBody>
                  <a:tcPr marL="137160" marR="137160" marT="0" marB="0" anchor="ctr">
                    <a:lnL w="9525" cap="flat" cmpd="sng" algn="ctr">
                      <a:solidFill>
                        <a:srgbClr val="DCE6E0"/>
                      </a:solidFill>
                      <a:prstDash val="solid"/>
                      <a:round/>
                      <a:headEnd type="none" w="med" len="med"/>
                      <a:tailEnd type="none" w="med" len="med"/>
                    </a:lnL>
                    <a:lnR w="9525" cap="flat" cmpd="sng" algn="ctr">
                      <a:solidFill>
                        <a:srgbClr val="DCE6E0"/>
                      </a:solidFill>
                      <a:prstDash val="solid"/>
                      <a:round/>
                      <a:headEnd type="none" w="med" len="med"/>
                      <a:tailEnd type="none" w="med" len="med"/>
                    </a:lnR>
                    <a:lnT w="9525" cap="flat" cmpd="sng" algn="ctr">
                      <a:solidFill>
                        <a:srgbClr val="DCE6E0"/>
                      </a:solidFill>
                      <a:prstDash val="solid"/>
                      <a:round/>
                      <a:headEnd type="none" w="med" len="med"/>
                      <a:tailEnd type="none" w="med" len="med"/>
                    </a:lnT>
                    <a:lnB w="9525" cap="flat" cmpd="sng" algn="ctr">
                      <a:solidFill>
                        <a:srgbClr val="DCE6E0"/>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17231D"/>
                          </a:solidFill>
                        </a:rPr>
                        <a:t>0.762</a:t>
                      </a:r>
                      <a:endParaRPr lang="en-US" sz="1600" dirty="0"/>
                    </a:p>
                  </a:txBody>
                  <a:tcPr marL="137160" marR="137160" marT="0" marB="0" anchor="ctr">
                    <a:lnL w="9525" cap="flat" cmpd="sng" algn="ctr">
                      <a:solidFill>
                        <a:srgbClr val="DCE6E0"/>
                      </a:solidFill>
                      <a:prstDash val="solid"/>
                      <a:round/>
                      <a:headEnd type="none" w="med" len="med"/>
                      <a:tailEnd type="none" w="med" len="med"/>
                    </a:lnL>
                    <a:lnR w="9525" cap="flat" cmpd="sng" algn="ctr">
                      <a:solidFill>
                        <a:srgbClr val="DCE6E0"/>
                      </a:solidFill>
                      <a:prstDash val="solid"/>
                      <a:round/>
                      <a:headEnd type="none" w="med" len="med"/>
                      <a:tailEnd type="none" w="med" len="med"/>
                    </a:lnR>
                    <a:lnT w="9525" cap="flat" cmpd="sng" algn="ctr">
                      <a:solidFill>
                        <a:srgbClr val="DCE6E0"/>
                      </a:solidFill>
                      <a:prstDash val="solid"/>
                      <a:round/>
                      <a:headEnd type="none" w="med" len="med"/>
                      <a:tailEnd type="none" w="med" len="med"/>
                    </a:lnT>
                    <a:lnB w="9525" cap="flat" cmpd="sng" algn="ctr">
                      <a:solidFill>
                        <a:srgbClr val="DCE6E0"/>
                      </a:solidFill>
                      <a:prstDash val="solid"/>
                      <a:round/>
                      <a:headEnd type="none" w="med" len="med"/>
                      <a:tailEnd type="none" w="med" len="med"/>
                    </a:lnB>
                    <a:solidFill>
                      <a:srgbClr val="FFFFFF"/>
                    </a:solidFill>
                  </a:tcPr>
                </a:tc>
              </a:tr>
              <a:tr h="731520">
                <a:tc>
                  <a:txBody>
                    <a:bodyPr/>
                    <a:lstStyle/>
                    <a:p>
                      <a:pPr algn="l" indent="0" marL="0">
                        <a:buNone/>
                      </a:pPr>
                      <a:r>
                        <a:rPr lang="en-US" sz="1600" dirty="0">
                          <a:solidFill>
                            <a:srgbClr val="17231D"/>
                          </a:solidFill>
                        </a:rPr>
                        <a:t>C. No age information</a:t>
                      </a:r>
                      <a:endParaRPr lang="en-US" sz="1600" dirty="0"/>
                    </a:p>
                  </a:txBody>
                  <a:tcPr marL="137160" marR="137160" marT="0" marB="0" anchor="ctr">
                    <a:lnL w="9525" cap="flat" cmpd="sng" algn="ctr">
                      <a:solidFill>
                        <a:srgbClr val="DCE6E0"/>
                      </a:solidFill>
                      <a:prstDash val="solid"/>
                      <a:round/>
                      <a:headEnd type="none" w="med" len="med"/>
                      <a:tailEnd type="none" w="med" len="med"/>
                    </a:lnL>
                    <a:lnR w="9525" cap="flat" cmpd="sng" algn="ctr">
                      <a:solidFill>
                        <a:srgbClr val="DCE6E0"/>
                      </a:solidFill>
                      <a:prstDash val="solid"/>
                      <a:round/>
                      <a:headEnd type="none" w="med" len="med"/>
                      <a:tailEnd type="none" w="med" len="med"/>
                    </a:lnR>
                    <a:lnT w="9525" cap="flat" cmpd="sng" algn="ctr">
                      <a:solidFill>
                        <a:srgbClr val="DCE6E0"/>
                      </a:solidFill>
                      <a:prstDash val="solid"/>
                      <a:round/>
                      <a:headEnd type="none" w="med" len="med"/>
                      <a:tailEnd type="none" w="med" len="med"/>
                    </a:lnT>
                    <a:lnB w="9525" cap="flat" cmpd="sng" algn="ctr">
                      <a:solidFill>
                        <a:srgbClr val="DCE6E0"/>
                      </a:solidFill>
                      <a:prstDash val="solid"/>
                      <a:round/>
                      <a:headEnd type="none" w="med" len="med"/>
                      <a:tailEnd type="none" w="med" len="med"/>
                    </a:lnB>
                    <a:solidFill>
                      <a:srgbClr val="EAF3EE"/>
                    </a:solidFill>
                  </a:tcPr>
                </a:tc>
                <a:tc>
                  <a:txBody>
                    <a:bodyPr/>
                    <a:lstStyle/>
                    <a:p>
                      <a:pPr algn="ctr" indent="0" marL="0">
                        <a:buNone/>
                      </a:pPr>
                      <a:r>
                        <a:rPr lang="en-US" sz="1600" dirty="0">
                          <a:solidFill>
                            <a:srgbClr val="17231D"/>
                          </a:solidFill>
                        </a:rPr>
                        <a:t>0.732</a:t>
                      </a:r>
                      <a:endParaRPr lang="en-US" sz="1600" dirty="0"/>
                    </a:p>
                  </a:txBody>
                  <a:tcPr marL="137160" marR="137160" marT="0" marB="0" anchor="ctr">
                    <a:lnL w="9525" cap="flat" cmpd="sng" algn="ctr">
                      <a:solidFill>
                        <a:srgbClr val="DCE6E0"/>
                      </a:solidFill>
                      <a:prstDash val="solid"/>
                      <a:round/>
                      <a:headEnd type="none" w="med" len="med"/>
                      <a:tailEnd type="none" w="med" len="med"/>
                    </a:lnL>
                    <a:lnR w="9525" cap="flat" cmpd="sng" algn="ctr">
                      <a:solidFill>
                        <a:srgbClr val="DCE6E0"/>
                      </a:solidFill>
                      <a:prstDash val="solid"/>
                      <a:round/>
                      <a:headEnd type="none" w="med" len="med"/>
                      <a:tailEnd type="none" w="med" len="med"/>
                    </a:lnR>
                    <a:lnT w="9525" cap="flat" cmpd="sng" algn="ctr">
                      <a:solidFill>
                        <a:srgbClr val="DCE6E0"/>
                      </a:solidFill>
                      <a:prstDash val="solid"/>
                      <a:round/>
                      <a:headEnd type="none" w="med" len="med"/>
                      <a:tailEnd type="none" w="med" len="med"/>
                    </a:lnT>
                    <a:lnB w="9525" cap="flat" cmpd="sng" algn="ctr">
                      <a:solidFill>
                        <a:srgbClr val="DCE6E0"/>
                      </a:solidFill>
                      <a:prstDash val="solid"/>
                      <a:round/>
                      <a:headEnd type="none" w="med" len="med"/>
                      <a:tailEnd type="none" w="med" len="med"/>
                    </a:lnB>
                    <a:solidFill>
                      <a:srgbClr val="EAF3EE"/>
                    </a:solidFill>
                  </a:tcPr>
                </a:tc>
                <a:tc>
                  <a:txBody>
                    <a:bodyPr/>
                    <a:lstStyle/>
                    <a:p>
                      <a:pPr algn="ctr" indent="0" marL="0">
                        <a:buNone/>
                      </a:pPr>
                      <a:r>
                        <a:rPr lang="en-US" sz="1600" b="1" dirty="0">
                          <a:solidFill>
                            <a:srgbClr val="17231D"/>
                          </a:solidFill>
                        </a:rPr>
                        <a:t>0.732</a:t>
                      </a:r>
                      <a:endParaRPr lang="en-US" sz="1600" dirty="0"/>
                    </a:p>
                  </a:txBody>
                  <a:tcPr marL="137160" marR="137160" marT="0" marB="0" anchor="ctr">
                    <a:lnL w="9525" cap="flat" cmpd="sng" algn="ctr">
                      <a:solidFill>
                        <a:srgbClr val="DCE6E0"/>
                      </a:solidFill>
                      <a:prstDash val="solid"/>
                      <a:round/>
                      <a:headEnd type="none" w="med" len="med"/>
                      <a:tailEnd type="none" w="med" len="med"/>
                    </a:lnL>
                    <a:lnR w="9525" cap="flat" cmpd="sng" algn="ctr">
                      <a:solidFill>
                        <a:srgbClr val="DCE6E0"/>
                      </a:solidFill>
                      <a:prstDash val="solid"/>
                      <a:round/>
                      <a:headEnd type="none" w="med" len="med"/>
                      <a:tailEnd type="none" w="med" len="med"/>
                    </a:lnR>
                    <a:lnT w="9525" cap="flat" cmpd="sng" algn="ctr">
                      <a:solidFill>
                        <a:srgbClr val="DCE6E0"/>
                      </a:solidFill>
                      <a:prstDash val="solid"/>
                      <a:round/>
                      <a:headEnd type="none" w="med" len="med"/>
                      <a:tailEnd type="none" w="med" len="med"/>
                    </a:lnT>
                    <a:lnB w="9525" cap="flat" cmpd="sng" algn="ctr">
                      <a:solidFill>
                        <a:srgbClr val="DCE6E0"/>
                      </a:solidFill>
                      <a:prstDash val="solid"/>
                      <a:round/>
                      <a:headEnd type="none" w="med" len="med"/>
                      <a:tailEnd type="none" w="med" len="med"/>
                    </a:lnB>
                    <a:solidFill>
                      <a:srgbClr val="EAF3EE"/>
                    </a:solidFill>
                  </a:tcPr>
                </a:tc>
              </a:tr>
            </a:tbl>
          </a:graphicData>
        </a:graphic>
      </p:graphicFrame>
      <p:sp>
        <p:nvSpPr>
          <p:cNvPr id="4" name="AUC note"/>
          <p:cNvSpPr txBox="1"/>
          <p:nvPr/>
        </p:nvSpPr>
        <p:spPr>
          <a:xfrm>
            <a:off x="548640" y="4983480"/>
            <a:ext cx="5669280" cy="731520"/>
          </a:xfrm>
          <a:prstGeom prst="rect">
            <a:avLst/>
          </a:prstGeom>
          <a:noFill/>
          <a:ln/>
        </p:spPr>
        <p:txBody>
          <a:bodyPr wrap="square" lIns="0" tIns="0" rIns="0" bIns="0" rtlCol="0" anchor="t"/>
          <a:lstStyle/>
          <a:p>
            <a:pPr indent="0" marL="0">
              <a:buNone/>
            </a:pPr>
            <a:r>
              <a:rPr lang="en-US" sz="1500" i="1" dirty="0">
                <a:solidFill>
                  <a:schemeClr val="accent4"/>
                </a:solidFill>
              </a:rPr>
              <a:t>AUC: 0.5 means guessing, 1.0 means a perfect ranking. The headline 76% is scenario B.</a:t>
            </a:r>
            <a:endParaRPr lang="en-US" sz="1500" dirty="0"/>
          </a:p>
        </p:txBody>
      </p:sp>
      <p:sp>
        <p:nvSpPr>
          <p:cNvPr id="5" name="Validation details"/>
          <p:cNvSpPr txBox="1"/>
          <p:nvPr/>
        </p:nvSpPr>
        <p:spPr>
          <a:xfrm>
            <a:off x="6583680" y="1737360"/>
            <a:ext cx="5056632" cy="42062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Data: 2,781 labelled players; 696 unlabelled players scored.</a:t>
            </a:r>
            <a:endParaRPr lang="en-US" sz="1700" dirty="0"/>
          </a:p>
          <a:p>
            <a:pPr marL="342900" indent="-342900">
              <a:spcAft>
                <a:spcPts val="1000"/>
              </a:spcAft>
              <a:buSzPct val="100000"/>
              <a:buChar char="•"/>
            </a:pPr>
            <a:r>
              <a:rPr lang="en-US" sz="1700" dirty="0">
                <a:solidFill>
                  <a:schemeClr val="tx1"/>
                </a:solidFill>
              </a:rPr>
              <a:t>Validation: 5-fold cross-validation repeated 3 times (15 test folds).</a:t>
            </a:r>
            <a:endParaRPr lang="en-US" sz="1700" dirty="0"/>
          </a:p>
          <a:p>
            <a:pPr marL="342900" indent="-342900">
              <a:spcAft>
                <a:spcPts val="1000"/>
              </a:spcAft>
              <a:buSzPct val="100000"/>
              <a:buChar char="•"/>
            </a:pPr>
            <a:r>
              <a:rPr lang="en-US" sz="1700" dirty="0">
                <a:solidFill>
                  <a:schemeClr val="tx1"/>
                </a:solidFill>
              </a:rPr>
              <a:t>No leakage: every statistic is learned inside the training fold only.</a:t>
            </a:r>
            <a:endParaRPr lang="en-US" sz="1700" dirty="0"/>
          </a:p>
          <a:p>
            <a:pPr marL="342900" indent="-342900">
              <a:spcAft>
                <a:spcPts val="1000"/>
              </a:spcAft>
              <a:buSzPct val="100000"/>
              <a:buChar char="•"/>
            </a:pPr>
            <a:r>
              <a:rPr lang="en-US" sz="1700" dirty="0">
                <a:solidFill>
                  <a:schemeClr val="tx1"/>
                </a:solidFill>
              </a:rPr>
              <a:t>Methods: logistic regression, random forest, LightGBM, XGBoost, CatBoost, and their equal-weight average.</a:t>
            </a:r>
            <a:endParaRPr lang="en-US" sz="1700" dirty="0"/>
          </a:p>
          <a:p>
            <a:pPr marL="342900" indent="-342900">
              <a:spcAft>
                <a:spcPts val="1000"/>
              </a:spcAft>
              <a:buSzPct val="100000"/>
              <a:buChar char="•"/>
            </a:pPr>
            <a:r>
              <a:rPr lang="en-US" sz="1700" dirty="0">
                <a:solidFill>
                  <a:schemeClr val="tx1"/>
                </a:solidFill>
              </a:rPr>
              <a:t>Full notebook and code are in the project repository.</a:t>
            </a:r>
            <a:endParaRPr lang="en-US" sz="17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188720"/>
          </a:xfrm>
          <a:prstGeom prst="rect">
            <a:avLst/>
          </a:prstGeom>
          <a:noFill/>
          <a:ln/>
        </p:spPr>
        <p:txBody>
          <a:bodyPr wrap="square" lIns="0" tIns="0" rIns="0" bIns="0" rtlCol="0" anchor="ctr"/>
          <a:lstStyle/>
          <a:p>
            <a:pPr algn="l" indent="0" marL="0">
              <a:buNone/>
            </a:pPr>
            <a:r>
              <a:rPr lang="en-US" sz="3600" b="1" dirty="0">
                <a:solidFill>
                  <a:schemeClr val="tx2"/>
                </a:solidFill>
              </a:rPr>
              <a:t>Appendix: plain-English glossary</a:t>
            </a:r>
            <a:endParaRPr lang="en-US" sz="3600" dirty="0"/>
          </a:p>
        </p:txBody>
      </p:sp>
      <p:sp>
        <p:nvSpPr>
          <p:cNvPr id="3" name="Glossary card 1"/>
          <p:cNvSpPr/>
          <p:nvPr/>
        </p:nvSpPr>
        <p:spPr>
          <a:xfrm>
            <a:off x="548640" y="1737360"/>
            <a:ext cx="5394960" cy="1920240"/>
          </a:xfrm>
          <a:prstGeom prst="roundRect">
            <a:avLst>
              <a:gd name="adj" fmla="val 5714"/>
            </a:avLst>
          </a:prstGeom>
          <a:solidFill>
            <a:schemeClr val="bg2"/>
          </a:solidFill>
          <a:ln w="12700">
            <a:solidFill>
              <a:schemeClr val="bg2"/>
            </a:solidFill>
            <a:prstDash val="solid"/>
          </a:ln>
        </p:spPr>
      </p:sp>
      <p:sp>
        <p:nvSpPr>
          <p:cNvPr id="4" name="Term 1"/>
          <p:cNvSpPr txBox="1"/>
          <p:nvPr/>
        </p:nvSpPr>
        <p:spPr>
          <a:xfrm>
            <a:off x="868680" y="1965960"/>
            <a:ext cx="4754880" cy="411480"/>
          </a:xfrm>
          <a:prstGeom prst="rect">
            <a:avLst/>
          </a:prstGeom>
          <a:noFill/>
          <a:ln/>
        </p:spPr>
        <p:txBody>
          <a:bodyPr wrap="square" lIns="0" tIns="0" rIns="0" bIns="0" rtlCol="0" anchor="ctr"/>
          <a:lstStyle/>
          <a:p>
            <a:pPr indent="0" marL="0">
              <a:buNone/>
            </a:pPr>
            <a:r>
              <a:rPr lang="en-US" sz="2200" b="1" dirty="0">
                <a:solidFill>
                  <a:schemeClr val="accent1"/>
                </a:solidFill>
              </a:rPr>
              <a:t>AUC</a:t>
            </a:r>
            <a:endParaRPr lang="en-US" sz="2200" dirty="0"/>
          </a:p>
        </p:txBody>
      </p:sp>
      <p:sp>
        <p:nvSpPr>
          <p:cNvPr id="5" name="Definition 1"/>
          <p:cNvSpPr txBox="1"/>
          <p:nvPr/>
        </p:nvSpPr>
        <p:spPr>
          <a:xfrm>
            <a:off x="868680" y="2468880"/>
            <a:ext cx="4754880" cy="1005840"/>
          </a:xfrm>
          <a:prstGeom prst="rect">
            <a:avLst/>
          </a:prstGeom>
          <a:noFill/>
          <a:ln/>
        </p:spPr>
        <p:txBody>
          <a:bodyPr wrap="square" lIns="0" tIns="0" rIns="0" bIns="0" rtlCol="0" anchor="t"/>
          <a:lstStyle/>
          <a:p>
            <a:pPr indent="0" marL="0">
              <a:buNone/>
            </a:pPr>
            <a:r>
              <a:rPr lang="en-US" sz="1800" dirty="0">
                <a:solidFill>
                  <a:schemeClr val="tx1"/>
                </a:solidFill>
              </a:rPr>
              <a:t>The chance the model ranks a random drafted player above a random undrafted one. 50% is guessing.</a:t>
            </a:r>
            <a:endParaRPr lang="en-US" sz="1800" dirty="0"/>
          </a:p>
        </p:txBody>
      </p:sp>
      <p:sp>
        <p:nvSpPr>
          <p:cNvPr id="6" name="Glossary card 2"/>
          <p:cNvSpPr/>
          <p:nvPr/>
        </p:nvSpPr>
        <p:spPr>
          <a:xfrm>
            <a:off x="6245352" y="1737360"/>
            <a:ext cx="5394960" cy="1920240"/>
          </a:xfrm>
          <a:prstGeom prst="roundRect">
            <a:avLst>
              <a:gd name="adj" fmla="val 5714"/>
            </a:avLst>
          </a:prstGeom>
          <a:solidFill>
            <a:schemeClr val="bg2"/>
          </a:solidFill>
          <a:ln w="12700">
            <a:solidFill>
              <a:schemeClr val="bg2"/>
            </a:solidFill>
            <a:prstDash val="solid"/>
          </a:ln>
        </p:spPr>
      </p:sp>
      <p:sp>
        <p:nvSpPr>
          <p:cNvPr id="7" name="Term 2"/>
          <p:cNvSpPr txBox="1"/>
          <p:nvPr/>
        </p:nvSpPr>
        <p:spPr>
          <a:xfrm>
            <a:off x="6565392" y="1965960"/>
            <a:ext cx="4754880" cy="411480"/>
          </a:xfrm>
          <a:prstGeom prst="rect">
            <a:avLst/>
          </a:prstGeom>
          <a:noFill/>
          <a:ln/>
        </p:spPr>
        <p:txBody>
          <a:bodyPr wrap="square" lIns="0" tIns="0" rIns="0" bIns="0" rtlCol="0" anchor="ctr"/>
          <a:lstStyle/>
          <a:p>
            <a:pPr indent="0" marL="0">
              <a:buNone/>
            </a:pPr>
            <a:r>
              <a:rPr lang="en-US" sz="2200" b="1" dirty="0">
                <a:solidFill>
                  <a:schemeClr val="accent1"/>
                </a:solidFill>
              </a:rPr>
              <a:t>Lift</a:t>
            </a:r>
            <a:endParaRPr lang="en-US" sz="2200" dirty="0"/>
          </a:p>
        </p:txBody>
      </p:sp>
      <p:sp>
        <p:nvSpPr>
          <p:cNvPr id="8" name="Definition 2"/>
          <p:cNvSpPr txBox="1"/>
          <p:nvPr/>
        </p:nvSpPr>
        <p:spPr>
          <a:xfrm>
            <a:off x="6565392" y="2468880"/>
            <a:ext cx="4754880" cy="1005840"/>
          </a:xfrm>
          <a:prstGeom prst="rect">
            <a:avLst/>
          </a:prstGeom>
          <a:noFill/>
          <a:ln/>
        </p:spPr>
        <p:txBody>
          <a:bodyPr wrap="square" lIns="0" tIns="0" rIns="0" bIns="0" rtlCol="0" anchor="t"/>
          <a:lstStyle/>
          <a:p>
            <a:pPr indent="0" marL="0">
              <a:buNone/>
            </a:pPr>
            <a:r>
              <a:rPr lang="en-US" sz="1800" dirty="0">
                <a:solidFill>
                  <a:schemeClr val="tx1"/>
                </a:solidFill>
              </a:rPr>
              <a:t>How much better the top-scored group does than average. Here: 90% against 65%.</a:t>
            </a:r>
            <a:endParaRPr lang="en-US" sz="1800" dirty="0"/>
          </a:p>
        </p:txBody>
      </p:sp>
      <p:sp>
        <p:nvSpPr>
          <p:cNvPr id="9" name="Glossary card 3"/>
          <p:cNvSpPr/>
          <p:nvPr/>
        </p:nvSpPr>
        <p:spPr>
          <a:xfrm>
            <a:off x="548640" y="3886200"/>
            <a:ext cx="5394960" cy="1920240"/>
          </a:xfrm>
          <a:prstGeom prst="roundRect">
            <a:avLst>
              <a:gd name="adj" fmla="val 5714"/>
            </a:avLst>
          </a:prstGeom>
          <a:solidFill>
            <a:schemeClr val="bg2"/>
          </a:solidFill>
          <a:ln w="12700">
            <a:solidFill>
              <a:schemeClr val="bg2"/>
            </a:solidFill>
            <a:prstDash val="solid"/>
          </a:ln>
        </p:spPr>
      </p:sp>
      <p:sp>
        <p:nvSpPr>
          <p:cNvPr id="10" name="Term 3"/>
          <p:cNvSpPr txBox="1"/>
          <p:nvPr/>
        </p:nvSpPr>
        <p:spPr>
          <a:xfrm>
            <a:off x="868680" y="4114800"/>
            <a:ext cx="4754880" cy="411480"/>
          </a:xfrm>
          <a:prstGeom prst="rect">
            <a:avLst/>
          </a:prstGeom>
          <a:noFill/>
          <a:ln/>
        </p:spPr>
        <p:txBody>
          <a:bodyPr wrap="square" lIns="0" tIns="0" rIns="0" bIns="0" rtlCol="0" anchor="ctr"/>
          <a:lstStyle/>
          <a:p>
            <a:pPr indent="0" marL="0">
              <a:buNone/>
            </a:pPr>
            <a:r>
              <a:rPr lang="en-US" sz="2200" b="1" dirty="0">
                <a:solidFill>
                  <a:schemeClr val="accent1"/>
                </a:solidFill>
              </a:rPr>
              <a:t>Data shortcut (leakage)</a:t>
            </a:r>
            <a:endParaRPr lang="en-US" sz="2200" dirty="0"/>
          </a:p>
        </p:txBody>
      </p:sp>
      <p:sp>
        <p:nvSpPr>
          <p:cNvPr id="11" name="Definition 3"/>
          <p:cNvSpPr txBox="1"/>
          <p:nvPr/>
        </p:nvSpPr>
        <p:spPr>
          <a:xfrm>
            <a:off x="868680" y="4617720"/>
            <a:ext cx="4754880" cy="1005840"/>
          </a:xfrm>
          <a:prstGeom prst="rect">
            <a:avLst/>
          </a:prstGeom>
          <a:noFill/>
          <a:ln/>
        </p:spPr>
        <p:txBody>
          <a:bodyPr wrap="square" lIns="0" tIns="0" rIns="0" bIns="0" rtlCol="0" anchor="t"/>
          <a:lstStyle/>
          <a:p>
            <a:pPr indent="0" marL="0">
              <a:buNone/>
            </a:pPr>
            <a:r>
              <a:rPr lang="en-US" sz="1800" dirty="0">
                <a:solidFill>
                  <a:schemeClr val="tx1"/>
                </a:solidFill>
              </a:rPr>
              <a:t>Information that exists only because the outcome already happened, such as a field filled in after a deal closes.</a:t>
            </a:r>
            <a:endParaRPr lang="en-US" sz="1800" dirty="0"/>
          </a:p>
        </p:txBody>
      </p:sp>
      <p:sp>
        <p:nvSpPr>
          <p:cNvPr id="12" name="Glossary card 4"/>
          <p:cNvSpPr/>
          <p:nvPr/>
        </p:nvSpPr>
        <p:spPr>
          <a:xfrm>
            <a:off x="6245352" y="3886200"/>
            <a:ext cx="5394960" cy="1920240"/>
          </a:xfrm>
          <a:prstGeom prst="roundRect">
            <a:avLst>
              <a:gd name="adj" fmla="val 5714"/>
            </a:avLst>
          </a:prstGeom>
          <a:solidFill>
            <a:schemeClr val="bg2"/>
          </a:solidFill>
          <a:ln w="12700">
            <a:solidFill>
              <a:schemeClr val="bg2"/>
            </a:solidFill>
            <a:prstDash val="solid"/>
          </a:ln>
        </p:spPr>
      </p:sp>
      <p:sp>
        <p:nvSpPr>
          <p:cNvPr id="13" name="Term 4"/>
          <p:cNvSpPr txBox="1"/>
          <p:nvPr/>
        </p:nvSpPr>
        <p:spPr>
          <a:xfrm>
            <a:off x="6565392" y="4114800"/>
            <a:ext cx="4754880" cy="411480"/>
          </a:xfrm>
          <a:prstGeom prst="rect">
            <a:avLst/>
          </a:prstGeom>
          <a:noFill/>
          <a:ln/>
        </p:spPr>
        <p:txBody>
          <a:bodyPr wrap="square" lIns="0" tIns="0" rIns="0" bIns="0" rtlCol="0" anchor="ctr"/>
          <a:lstStyle/>
          <a:p>
            <a:pPr indent="0" marL="0">
              <a:buNone/>
            </a:pPr>
            <a:r>
              <a:rPr lang="en-US" sz="2200" b="1" dirty="0">
                <a:solidFill>
                  <a:schemeClr val="accent1"/>
                </a:solidFill>
              </a:rPr>
              <a:t>Cross-validation</a:t>
            </a:r>
            <a:endParaRPr lang="en-US" sz="2200" dirty="0"/>
          </a:p>
        </p:txBody>
      </p:sp>
      <p:sp>
        <p:nvSpPr>
          <p:cNvPr id="14" name="Definition 4"/>
          <p:cNvSpPr txBox="1"/>
          <p:nvPr/>
        </p:nvSpPr>
        <p:spPr>
          <a:xfrm>
            <a:off x="6565392" y="4617720"/>
            <a:ext cx="4754880" cy="1005840"/>
          </a:xfrm>
          <a:prstGeom prst="rect">
            <a:avLst/>
          </a:prstGeom>
          <a:noFill/>
          <a:ln/>
        </p:spPr>
        <p:txBody>
          <a:bodyPr wrap="square" lIns="0" tIns="0" rIns="0" bIns="0" rtlCol="0" anchor="t"/>
          <a:lstStyle/>
          <a:p>
            <a:pPr indent="0" marL="0">
              <a:buNone/>
            </a:pPr>
            <a:r>
              <a:rPr lang="en-US" sz="1800" dirty="0">
                <a:solidFill>
                  <a:schemeClr val="tx1"/>
                </a:solidFill>
              </a:rPr>
              <a:t>Testing on data the model has not seen, repeatedly, so it is not graded on its own homework.</a:t>
            </a:r>
            <a:endParaRPr lang="en-US" sz="18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Draft Analytics">
  <a:themeElements>
    <a:clrScheme name="Draft Analytics">
      <a:dk1>
        <a:srgbClr val="17231D"/>
      </a:dk1>
      <a:lt1>
        <a:srgbClr val="FFFFFF"/>
      </a:lt1>
      <a:dk2>
        <a:srgbClr val="0F3D2E"/>
      </a:dk2>
      <a:lt2>
        <a:srgbClr val="EAF3EE"/>
      </a:lt2>
      <a:accent1>
        <a:srgbClr val="2A7F62"/>
      </a:accent1>
      <a:accent2>
        <a:srgbClr val="C8553D"/>
      </a:accent2>
      <a:accent3>
        <a:srgbClr val="E0A030"/>
      </a:accent3>
      <a:accent4>
        <a:srgbClr val="5F6F67"/>
      </a:accent4>
      <a:accent5>
        <a:srgbClr val="5FA98A"/>
      </a:accent5>
      <a:accent6>
        <a:srgbClr val="0F3D2E"/>
      </a:accent6>
      <a:hlink>
        <a:srgbClr val="2A7F62"/>
      </a:hlink>
      <a:folHlink>
        <a:srgbClr val="5F6F67"/>
      </a:folHlink>
    </a:clrScheme>
    <a:fontScheme name="Draft Analytic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NFL Draft Prediction: Findings and Recommendations</dc:title>
  <dc:subject>PptxGenJS Presentation</dc:subject>
  <dc:creator>Data Science</dc:creator>
  <cp:lastModifiedBy>Data Science</cp:lastModifiedBy>
  <cp:revision>1</cp:revision>
  <dcterms:created xsi:type="dcterms:W3CDTF">2026-10-11T16:14:34Z</dcterms:created>
  <dcterms:modified xsi:type="dcterms:W3CDTF">2026-10-11T16:14:34Z</dcterms:modified>
</cp:coreProperties>
</file>